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39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6600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NA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7E70"/>
          </a:solidFill>
          <a:ln w="12700">
            <a:solidFill>
              <a:srgbClr val="007E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B2B"/>
                </a:solidFill>
                <a:latin typeface="Hana2.0 H" pitchFamily="34" charset="0"/>
                <a:ea typeface="Hana2.0 H" pitchFamily="34" charset="-122"/>
                <a:cs typeface="Hana2.0 H" pitchFamily="34" charset="-120"/>
              </a:rPr>
              <a:t>하나은행 크로스보더 결제 전략 분석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11338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47B7B"/>
                </a:solidFill>
                <a:latin typeface="Hana2.0 R" pitchFamily="34" charset="0"/>
                <a:ea typeface="Hana2.0 R" pitchFamily="34" charset="-122"/>
                <a:cs typeface="Hana2.0 R" pitchFamily="34" charset="-120"/>
              </a:rPr>
              <a:t>하나은행의 기존 FX·GLN 기반과 GIWA 상용화 가능성을 분리해 판단하기 위한 Tableau 분석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5166360" cy="1965960"/>
          </a:xfrm>
          <a:prstGeom prst="roundRect">
            <a:avLst>
              <a:gd name="adj" fmla="val 5581"/>
            </a:avLst>
          </a:prstGeom>
          <a:solidFill>
            <a:srgbClr val="F1FAF8"/>
          </a:solidFill>
          <a:ln w="8890">
            <a:solidFill>
              <a:srgbClr val="CFE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2070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E70"/>
                </a:solidFill>
                <a:latin typeface="Hana2.0 B" pitchFamily="34" charset="0"/>
                <a:ea typeface="Hana2.0 B" pitchFamily="34" charset="-122"/>
                <a:cs typeface="Hana2.0 B" pitchFamily="34" charset="-120"/>
              </a:rPr>
              <a:t>1. 분석 주제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30352" y="144475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B2B"/>
                </a:solidFill>
                <a:latin typeface="Hana2.0 H" pitchFamily="34" charset="0"/>
                <a:ea typeface="Hana2.0 H" pitchFamily="34" charset="-122"/>
                <a:cs typeface="Hana2.0 H" pitchFamily="34" charset="-120"/>
              </a:rPr>
              <a:t>기존 강점 vs. GIWA 상용화 가능성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" y="17556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63434"/>
                </a:solidFill>
                <a:latin typeface="Hana2.0 R" pitchFamily="34" charset="0"/>
                <a:ea typeface="Hana2.0 R" pitchFamily="34" charset="-122"/>
                <a:cs typeface="Hana2.0 R" pitchFamily="34" charset="-120"/>
              </a:rPr>
              <a:t>기존 FX·GLN 운영 기반과 GIWA 상용화 가능성을 데이터 기반으로 비교·평가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4068" y="200253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E70"/>
                </a:solidFill>
                <a:latin typeface="Hana2.0 B" pitchFamily="34" charset="0"/>
                <a:ea typeface="Hana2.0 B" pitchFamily="34" charset="-122"/>
                <a:cs typeface="Hana2.0 B" pitchFamily="34" charset="-120"/>
              </a:rPr>
              <a:t>핵심 질문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4068" y="2281428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7E70"/>
                </a:solidFill>
                <a:latin typeface="Hana2.0 B" pitchFamily="34" charset="0"/>
                <a:ea typeface="Hana2.0 B" pitchFamily="34" charset="-122"/>
                <a:cs typeface="Hana2.0 B" pitchFamily="34" charset="-120"/>
              </a:rPr>
              <a:t>•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782" y="225108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63434"/>
                </a:solidFill>
                <a:latin typeface="Hana2.0 R" pitchFamily="34" charset="0"/>
                <a:ea typeface="Hana2.0 R" pitchFamily="34" charset="-122"/>
                <a:cs typeface="Hana2.0 R" pitchFamily="34" charset="-120"/>
              </a:rPr>
              <a:t>크로스보더 결제는 왜 비싸고 느린가?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875788" y="2281428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7E70"/>
                </a:solidFill>
                <a:latin typeface="Hana2.0 B" pitchFamily="34" charset="0"/>
                <a:ea typeface="Hana2.0 B" pitchFamily="34" charset="-122"/>
                <a:cs typeface="Hana2.0 B" pitchFamily="34" charset="-120"/>
              </a:rPr>
              <a:t>•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82189" y="2226147"/>
            <a:ext cx="2296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63434"/>
                </a:solidFill>
                <a:latin typeface="Hana2.0 R" pitchFamily="34" charset="0"/>
                <a:ea typeface="Hana2.0 R" pitchFamily="34" charset="-122"/>
                <a:cs typeface="Hana2.0 R" pitchFamily="34" charset="-120"/>
              </a:rPr>
              <a:t>하나은행은 GIWA 이전에 어떤 </a:t>
            </a:r>
            <a:r>
              <a:rPr lang="en-US" sz="1000" dirty="0" err="1">
                <a:solidFill>
                  <a:srgbClr val="263434"/>
                </a:solidFill>
                <a:latin typeface="Hana2.0 R" pitchFamily="34" charset="0"/>
                <a:ea typeface="Hana2.0 R" pitchFamily="34" charset="-122"/>
                <a:cs typeface="Hana2.0 R" pitchFamily="34" charset="-120"/>
              </a:rPr>
              <a:t>운영</a:t>
            </a:r>
            <a:r>
              <a:rPr lang="en-US" sz="1000" dirty="0">
                <a:solidFill>
                  <a:srgbClr val="263434"/>
                </a:solidFill>
                <a:latin typeface="Hana2.0 R" pitchFamily="34" charset="0"/>
                <a:ea typeface="Hana2.0 R" pitchFamily="34" charset="-122"/>
                <a:cs typeface="Hana2.0 R" pitchFamily="34" charset="-120"/>
              </a:rPr>
              <a:t> </a:t>
            </a:r>
            <a:r>
              <a:rPr lang="en-US" sz="1000" dirty="0" err="1" smtClean="0">
                <a:solidFill>
                  <a:srgbClr val="263434"/>
                </a:solidFill>
                <a:latin typeface="Hana2.0 R" pitchFamily="34" charset="0"/>
                <a:ea typeface="Hana2.0 R" pitchFamily="34" charset="-122"/>
                <a:cs typeface="Hana2.0 R" pitchFamily="34" charset="-120"/>
              </a:rPr>
              <a:t>자산을</a:t>
            </a:r>
            <a:r>
              <a:rPr lang="en-US" sz="1000" dirty="0" smtClean="0">
                <a:solidFill>
                  <a:srgbClr val="263434"/>
                </a:solidFill>
                <a:latin typeface="Hana2.0 R" pitchFamily="34" charset="0"/>
                <a:ea typeface="Hana2.0 R" pitchFamily="34" charset="-122"/>
                <a:cs typeface="Hana2.0 R" pitchFamily="34" charset="-120"/>
              </a:rPr>
              <a:t> </a:t>
            </a:r>
            <a:r>
              <a:rPr lang="en-US" sz="1000" dirty="0">
                <a:solidFill>
                  <a:srgbClr val="263434"/>
                </a:solidFill>
                <a:latin typeface="Hana2.0 R" pitchFamily="34" charset="0"/>
                <a:ea typeface="Hana2.0 R" pitchFamily="34" charset="-122"/>
                <a:cs typeface="Hana2.0 R" pitchFamily="34" charset="-120"/>
              </a:rPr>
              <a:t>보유했나?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4068" y="2564892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7E70"/>
                </a:solidFill>
                <a:latin typeface="Hana2.0 B" pitchFamily="34" charset="0"/>
                <a:ea typeface="Hana2.0 B" pitchFamily="34" charset="-122"/>
                <a:cs typeface="Hana2.0 B" pitchFamily="34" charset="-120"/>
              </a:rPr>
              <a:t>•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3843" y="2534550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63434"/>
                </a:solidFill>
                <a:latin typeface="Hana2.0 R" pitchFamily="34" charset="0"/>
                <a:ea typeface="Hana2.0 R" pitchFamily="34" charset="-122"/>
                <a:cs typeface="Hana2.0 R" pitchFamily="34" charset="-120"/>
              </a:rPr>
              <a:t>GIWA는 PoC 이후 실제 서비스 단계까지 얼마나 검증됐나?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875788" y="2581518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7E70"/>
                </a:solidFill>
                <a:latin typeface="Hana2.0 B" pitchFamily="34" charset="0"/>
                <a:ea typeface="Hana2.0 B" pitchFamily="34" charset="-122"/>
                <a:cs typeface="Hana2.0 B" pitchFamily="34" charset="-120"/>
              </a:rPr>
              <a:t>•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82188" y="2559489"/>
            <a:ext cx="229639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63434"/>
                </a:solidFill>
                <a:latin typeface="Hana2.0 R" pitchFamily="34" charset="0"/>
                <a:ea typeface="Hana2.0 R" pitchFamily="34" charset="-122"/>
                <a:cs typeface="Hana2.0 R" pitchFamily="34" charset="-120"/>
              </a:rPr>
              <a:t>어떤 근거가 확보되면 </a:t>
            </a:r>
            <a:r>
              <a:rPr lang="en-US" sz="1000" dirty="0" err="1">
                <a:solidFill>
                  <a:srgbClr val="263434"/>
                </a:solidFill>
                <a:latin typeface="Hana2.0 R" pitchFamily="34" charset="0"/>
                <a:ea typeface="Hana2.0 R" pitchFamily="34" charset="-122"/>
                <a:cs typeface="Hana2.0 R" pitchFamily="34" charset="-120"/>
              </a:rPr>
              <a:t>의사결정이</a:t>
            </a:r>
            <a:r>
              <a:rPr lang="en-US" sz="1000" dirty="0">
                <a:solidFill>
                  <a:srgbClr val="263434"/>
                </a:solidFill>
                <a:latin typeface="Hana2.0 R" pitchFamily="34" charset="0"/>
                <a:ea typeface="Hana2.0 R" pitchFamily="34" charset="-122"/>
                <a:cs typeface="Hana2.0 R" pitchFamily="34" charset="-120"/>
              </a:rPr>
              <a:t> </a:t>
            </a:r>
            <a:r>
              <a:rPr lang="en-US" sz="1000" dirty="0" err="1" smtClean="0">
                <a:solidFill>
                  <a:srgbClr val="263434"/>
                </a:solidFill>
                <a:latin typeface="Hana2.0 R" pitchFamily="34" charset="0"/>
                <a:ea typeface="Hana2.0 R" pitchFamily="34" charset="-122"/>
                <a:cs typeface="Hana2.0 R" pitchFamily="34" charset="-120"/>
              </a:rPr>
              <a:t>달라지나</a:t>
            </a:r>
            <a:r>
              <a:rPr lang="en-US" sz="1000" dirty="0">
                <a:solidFill>
                  <a:srgbClr val="263434"/>
                </a:solidFill>
                <a:latin typeface="Hana2.0 R" pitchFamily="34" charset="0"/>
                <a:ea typeface="Hana2.0 R" pitchFamily="34" charset="-122"/>
                <a:cs typeface="Hana2.0 R" pitchFamily="34" charset="-120"/>
              </a:rPr>
              <a:t>?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0" y="1005840"/>
            <a:ext cx="61722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8890">
            <a:solidFill>
              <a:srgbClr val="CFE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79592" y="12070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E70"/>
                </a:solidFill>
                <a:latin typeface="Hana2.0 B" pitchFamily="34" charset="0"/>
                <a:ea typeface="Hana2.0 B" pitchFamily="34" charset="-122"/>
                <a:cs typeface="Hana2.0 B" pitchFamily="34" charset="-120"/>
              </a:rPr>
              <a:t>2. Tableau 분석 흐름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879592" y="146304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63434"/>
                </a:solidFill>
                <a:latin typeface="Hana2.0 R" pitchFamily="34" charset="0"/>
                <a:ea typeface="Hana2.0 R" pitchFamily="34" charset="-122"/>
                <a:cs typeface="Hana2.0 R" pitchFamily="34" charset="-120"/>
              </a:rPr>
              <a:t>시장 문제에서 최종 판단까지 5개 대시보드로 연결</a:t>
            </a:r>
            <a:endParaRPr lang="en-US" sz="1020" dirty="0"/>
          </a:p>
        </p:txBody>
      </p:sp>
      <p:grpSp>
        <p:nvGrpSpPr>
          <p:cNvPr id="899" name="그룹 898"/>
          <p:cNvGrpSpPr/>
          <p:nvPr/>
        </p:nvGrpSpPr>
        <p:grpSpPr>
          <a:xfrm>
            <a:off x="5943600" y="1755648"/>
            <a:ext cx="5605272" cy="475488"/>
            <a:chOff x="5870448" y="1755648"/>
            <a:chExt cx="5605272" cy="475488"/>
          </a:xfrm>
        </p:grpSpPr>
        <p:sp>
          <p:nvSpPr>
            <p:cNvPr id="21" name="Shape 19"/>
            <p:cNvSpPr/>
            <p:nvPr/>
          </p:nvSpPr>
          <p:spPr>
            <a:xfrm>
              <a:off x="5870448" y="1755648"/>
              <a:ext cx="960120" cy="475488"/>
            </a:xfrm>
            <a:prstGeom prst="roundRect">
              <a:avLst>
                <a:gd name="adj" fmla="val 25000"/>
              </a:avLst>
            </a:prstGeom>
            <a:solidFill>
              <a:srgbClr val="007E70"/>
            </a:solidFill>
            <a:ln w="12700">
              <a:solidFill>
                <a:srgbClr val="007E70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5943600" y="1828800"/>
              <a:ext cx="256032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FFFFFF"/>
                  </a:solidFill>
                  <a:latin typeface="Hana2.0 H" pitchFamily="34" charset="0"/>
                  <a:ea typeface="Hana2.0 H" pitchFamily="34" charset="-122"/>
                  <a:cs typeface="Hana2.0 H" pitchFamily="34" charset="-120"/>
                </a:rPr>
                <a:t>01</a:t>
              </a:r>
              <a:endParaRPr lang="en-US" sz="105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6190488" y="1965132"/>
              <a:ext cx="566928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Hana2.0 B" pitchFamily="34" charset="0"/>
                  <a:ea typeface="Hana2.0 B" pitchFamily="34" charset="-122"/>
                  <a:cs typeface="Hana2.0 B" pitchFamily="34" charset="-120"/>
                </a:rPr>
                <a:t>시장 문제</a:t>
              </a:r>
              <a:endParaRPr lang="en-US" sz="9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6858000" y="1883664"/>
              <a:ext cx="128016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007E70"/>
                  </a:solidFill>
                  <a:latin typeface="Hana2.0 B" pitchFamily="34" charset="0"/>
                  <a:ea typeface="Hana2.0 B" pitchFamily="34" charset="-122"/>
                  <a:cs typeface="Hana2.0 B" pitchFamily="34" charset="-120"/>
                </a:rPr>
                <a:t>→</a:t>
              </a:r>
              <a:endParaRPr lang="en-US" sz="11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7031736" y="1755648"/>
              <a:ext cx="960120" cy="475488"/>
            </a:xfrm>
            <a:prstGeom prst="roundRect">
              <a:avLst>
                <a:gd name="adj" fmla="val 25000"/>
              </a:avLst>
            </a:prstGeom>
            <a:solidFill>
              <a:srgbClr val="007E70"/>
            </a:solidFill>
            <a:ln w="12700">
              <a:solidFill>
                <a:srgbClr val="007E70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7104888" y="1828800"/>
              <a:ext cx="256032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FFFFFF"/>
                  </a:solidFill>
                  <a:latin typeface="Hana2.0 H" pitchFamily="34" charset="0"/>
                  <a:ea typeface="Hana2.0 H" pitchFamily="34" charset="-122"/>
                  <a:cs typeface="Hana2.0 H" pitchFamily="34" charset="-120"/>
                </a:rPr>
                <a:t>02</a:t>
              </a:r>
              <a:endParaRPr lang="en-US" sz="105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7351776" y="1965132"/>
              <a:ext cx="566928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Hana2.0 B" pitchFamily="34" charset="0"/>
                  <a:ea typeface="Hana2.0 B" pitchFamily="34" charset="-122"/>
                  <a:cs typeface="Hana2.0 B" pitchFamily="34" charset="-120"/>
                </a:rPr>
                <a:t>레일 비교</a:t>
              </a:r>
              <a:endParaRPr lang="en-US" sz="9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8019288" y="1883664"/>
              <a:ext cx="128016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007E70"/>
                  </a:solidFill>
                  <a:latin typeface="Hana2.0 B" pitchFamily="34" charset="0"/>
                  <a:ea typeface="Hana2.0 B" pitchFamily="34" charset="-122"/>
                  <a:cs typeface="Hana2.0 B" pitchFamily="34" charset="-120"/>
                </a:rPr>
                <a:t>→</a:t>
              </a:r>
              <a:endParaRPr lang="en-US" sz="11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8193024" y="1755648"/>
              <a:ext cx="960120" cy="475488"/>
            </a:xfrm>
            <a:prstGeom prst="roundRect">
              <a:avLst>
                <a:gd name="adj" fmla="val 25000"/>
              </a:avLst>
            </a:prstGeom>
            <a:solidFill>
              <a:srgbClr val="007E70"/>
            </a:solidFill>
            <a:ln w="12700">
              <a:solidFill>
                <a:srgbClr val="007E70"/>
              </a:solidFill>
              <a:prstDash val="solid"/>
            </a:ln>
          </p:spPr>
        </p:sp>
        <p:sp>
          <p:nvSpPr>
            <p:cNvPr id="30" name="Text 28"/>
            <p:cNvSpPr/>
            <p:nvPr/>
          </p:nvSpPr>
          <p:spPr>
            <a:xfrm>
              <a:off x="8266176" y="1828800"/>
              <a:ext cx="256032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FFFFFF"/>
                  </a:solidFill>
                  <a:latin typeface="Hana2.0 H" pitchFamily="34" charset="0"/>
                  <a:ea typeface="Hana2.0 H" pitchFamily="34" charset="-122"/>
                  <a:cs typeface="Hana2.0 H" pitchFamily="34" charset="-120"/>
                </a:rPr>
                <a:t>03</a:t>
              </a:r>
              <a:endParaRPr lang="en-US" sz="105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8513064" y="1965132"/>
              <a:ext cx="566928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Hana2.0 B" pitchFamily="34" charset="0"/>
                  <a:ea typeface="Hana2.0 B" pitchFamily="34" charset="-122"/>
                  <a:cs typeface="Hana2.0 B" pitchFamily="34" charset="-120"/>
                </a:rPr>
                <a:t>하나 포지션</a:t>
              </a:r>
              <a:endParaRPr lang="en-US" sz="9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9180576" y="1883664"/>
              <a:ext cx="128016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007E70"/>
                  </a:solidFill>
                  <a:latin typeface="Hana2.0 B" pitchFamily="34" charset="0"/>
                  <a:ea typeface="Hana2.0 B" pitchFamily="34" charset="-122"/>
                  <a:cs typeface="Hana2.0 B" pitchFamily="34" charset="-120"/>
                </a:rPr>
                <a:t>→</a:t>
              </a:r>
              <a:endParaRPr lang="en-US" sz="110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9354312" y="1755648"/>
              <a:ext cx="960120" cy="475488"/>
            </a:xfrm>
            <a:prstGeom prst="roundRect">
              <a:avLst>
                <a:gd name="adj" fmla="val 25000"/>
              </a:avLst>
            </a:prstGeom>
            <a:solidFill>
              <a:srgbClr val="00655A"/>
            </a:solidFill>
            <a:ln w="12700">
              <a:solidFill>
                <a:srgbClr val="00655A"/>
              </a:solidFill>
              <a:prstDash val="solid"/>
            </a:ln>
          </p:spPr>
        </p:sp>
        <p:sp>
          <p:nvSpPr>
            <p:cNvPr id="34" name="Text 32"/>
            <p:cNvSpPr/>
            <p:nvPr/>
          </p:nvSpPr>
          <p:spPr>
            <a:xfrm>
              <a:off x="9427464" y="1828800"/>
              <a:ext cx="256032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FFFFFF"/>
                  </a:solidFill>
                  <a:latin typeface="Hana2.0 H" pitchFamily="34" charset="0"/>
                  <a:ea typeface="Hana2.0 H" pitchFamily="34" charset="-122"/>
                  <a:cs typeface="Hana2.0 H" pitchFamily="34" charset="-120"/>
                </a:rPr>
                <a:t>04</a:t>
              </a:r>
              <a:endParaRPr lang="en-US" sz="105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9674352" y="1965132"/>
              <a:ext cx="566928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Hana2.0 B" pitchFamily="34" charset="0"/>
                  <a:ea typeface="Hana2.0 B" pitchFamily="34" charset="-122"/>
                  <a:cs typeface="Hana2.0 B" pitchFamily="34" charset="-120"/>
                </a:rPr>
                <a:t>GIWA 단계</a:t>
              </a:r>
              <a:endParaRPr lang="en-US" sz="90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10341864" y="1883664"/>
              <a:ext cx="128016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007E70"/>
                  </a:solidFill>
                  <a:latin typeface="Hana2.0 B" pitchFamily="34" charset="0"/>
                  <a:ea typeface="Hana2.0 B" pitchFamily="34" charset="-122"/>
                  <a:cs typeface="Hana2.0 B" pitchFamily="34" charset="-120"/>
                </a:rPr>
                <a:t>→</a:t>
              </a:r>
              <a:endParaRPr lang="en-US" sz="1100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10515600" y="1755648"/>
              <a:ext cx="960120" cy="475488"/>
            </a:xfrm>
            <a:prstGeom prst="roundRect">
              <a:avLst>
                <a:gd name="adj" fmla="val 25000"/>
              </a:avLst>
            </a:prstGeom>
            <a:solidFill>
              <a:srgbClr val="00655A"/>
            </a:solidFill>
            <a:ln w="12700">
              <a:solidFill>
                <a:srgbClr val="00655A"/>
              </a:solidFill>
              <a:prstDash val="solid"/>
            </a:ln>
          </p:spPr>
        </p:sp>
        <p:sp>
          <p:nvSpPr>
            <p:cNvPr id="38" name="Text 36"/>
            <p:cNvSpPr/>
            <p:nvPr/>
          </p:nvSpPr>
          <p:spPr>
            <a:xfrm>
              <a:off x="10588752" y="1828800"/>
              <a:ext cx="256032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FFFFFF"/>
                  </a:solidFill>
                  <a:latin typeface="Hana2.0 H" pitchFamily="34" charset="0"/>
                  <a:ea typeface="Hana2.0 H" pitchFamily="34" charset="-122"/>
                  <a:cs typeface="Hana2.0 H" pitchFamily="34" charset="-120"/>
                </a:rPr>
                <a:t>05</a:t>
              </a:r>
              <a:endParaRPr lang="en-US" sz="105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10843953" y="1965132"/>
              <a:ext cx="566928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Hana2.0 B" pitchFamily="34" charset="0"/>
                  <a:ea typeface="Hana2.0 B" pitchFamily="34" charset="-122"/>
                  <a:cs typeface="Hana2.0 B" pitchFamily="34" charset="-120"/>
                </a:rPr>
                <a:t>최종 판단</a:t>
              </a:r>
              <a:endParaRPr lang="en-US" sz="900" dirty="0"/>
            </a:p>
          </p:txBody>
        </p:sp>
      </p:grpSp>
      <p:sp>
        <p:nvSpPr>
          <p:cNvPr id="40" name="Text 38"/>
          <p:cNvSpPr/>
          <p:nvPr/>
        </p:nvSpPr>
        <p:spPr>
          <a:xfrm>
            <a:off x="5929469" y="2542032"/>
            <a:ext cx="5641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747B7B"/>
                </a:solidFill>
                <a:latin typeface="Hana2.0 R" pitchFamily="34" charset="0"/>
                <a:ea typeface="Hana2.0 R" pitchFamily="34" charset="-122"/>
                <a:cs typeface="Hana2.0 R" pitchFamily="34" charset="-120"/>
              </a:rPr>
              <a:t>각 데이터는 “</a:t>
            </a:r>
            <a:r>
              <a:rPr lang="en-US" sz="960" b="1" dirty="0">
                <a:solidFill>
                  <a:srgbClr val="747B7B"/>
                </a:solidFill>
                <a:latin typeface="Hana2.0 R" pitchFamily="34" charset="0"/>
                <a:ea typeface="Hana2.0 R" pitchFamily="34" charset="-122"/>
                <a:cs typeface="Hana2.0 R" pitchFamily="34" charset="-120"/>
              </a:rPr>
              <a:t>시장 마찰 → 대안 레일 → 하나은행 자산 → GIWA 성숙도 → 의사결정 기준</a:t>
            </a:r>
            <a:r>
              <a:rPr lang="en-US" sz="960" dirty="0">
                <a:solidFill>
                  <a:srgbClr val="747B7B"/>
                </a:solidFill>
                <a:latin typeface="Hana2.0 R" pitchFamily="34" charset="0"/>
                <a:ea typeface="Hana2.0 R" pitchFamily="34" charset="-122"/>
                <a:cs typeface="Hana2.0 R" pitchFamily="34" charset="-120"/>
              </a:rPr>
              <a:t>” 순서로 해석했습니다.</a:t>
            </a:r>
            <a:endParaRPr lang="en-US" sz="960" dirty="0"/>
          </a:p>
        </p:txBody>
      </p:sp>
      <p:sp>
        <p:nvSpPr>
          <p:cNvPr id="900" name="Text 900"/>
          <p:cNvSpPr/>
          <p:nvPr/>
        </p:nvSpPr>
        <p:spPr>
          <a:xfrm>
            <a:off x="320040" y="3050000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B2B"/>
                </a:solidFill>
                <a:latin typeface="Hana2.0 B" pitchFamily="34" charset="0"/>
                <a:ea typeface="Hana2.0 B" pitchFamily="34" charset="-122"/>
                <a:cs typeface="Hana2.0 B" pitchFamily="34" charset="-120"/>
              </a:rPr>
              <a:t>증거 준비도(52_TABLEAU_CLAIM_REGISTRY, 27건): READY(정규화 완료) 14 · BLOCKED(정규화 미완료) 10 · READY_WITH_PRECONDITION 2 · CAUTION 1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20040" y="32735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E70"/>
                </a:solidFill>
                <a:latin typeface="Hana2.0 B" pitchFamily="34" charset="0"/>
                <a:ea typeface="Hana2.0 B" pitchFamily="34" charset="-122"/>
                <a:cs typeface="Hana2.0 B" pitchFamily="34" charset="-120"/>
              </a:rPr>
              <a:t>3. </a:t>
            </a:r>
            <a:r>
              <a:rPr lang="en-US" sz="1050" b="1" dirty="0" err="1">
                <a:solidFill>
                  <a:srgbClr val="007E70"/>
                </a:solidFill>
                <a:latin typeface="Hana2.0 B" pitchFamily="34" charset="0"/>
                <a:ea typeface="Hana2.0 B" pitchFamily="34" charset="-122"/>
                <a:cs typeface="Hana2.0 B" pitchFamily="34" charset="-120"/>
              </a:rPr>
              <a:t>활용</a:t>
            </a:r>
            <a:r>
              <a:rPr lang="en-US" sz="1050" b="1" dirty="0">
                <a:solidFill>
                  <a:srgbClr val="007E70"/>
                </a:solidFill>
                <a:latin typeface="Hana2.0 B" pitchFamily="34" charset="0"/>
                <a:ea typeface="Hana2.0 B" pitchFamily="34" charset="-122"/>
                <a:cs typeface="Hana2.0 B" pitchFamily="34" charset="-120"/>
              </a:rPr>
              <a:t> </a:t>
            </a:r>
            <a:r>
              <a:rPr lang="en-US" sz="1050" b="1" dirty="0" err="1" smtClean="0">
                <a:solidFill>
                  <a:srgbClr val="007E70"/>
                </a:solidFill>
                <a:latin typeface="Hana2.0 B" pitchFamily="34" charset="0"/>
                <a:ea typeface="Hana2.0 B" pitchFamily="34" charset="-122"/>
                <a:cs typeface="Hana2.0 B" pitchFamily="34" charset="-120"/>
              </a:rPr>
              <a:t>데이터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20040" y="3584448"/>
            <a:ext cx="1417320" cy="310896"/>
          </a:xfrm>
          <a:prstGeom prst="rect">
            <a:avLst/>
          </a:prstGeom>
          <a:solidFill>
            <a:srgbClr val="007E70"/>
          </a:solidFill>
          <a:ln w="12700">
            <a:solidFill>
              <a:srgbClr val="007E7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3657600"/>
            <a:ext cx="1325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Hana2.0 B" pitchFamily="34" charset="0"/>
                <a:ea typeface="Hana2.0 B" pitchFamily="34" charset="-122"/>
                <a:cs typeface="Hana2.0 B" pitchFamily="34" charset="-120"/>
              </a:rPr>
              <a:t>데이터 구분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737360" y="3584448"/>
            <a:ext cx="3429000" cy="310896"/>
          </a:xfrm>
          <a:prstGeom prst="rect">
            <a:avLst/>
          </a:prstGeom>
          <a:solidFill>
            <a:srgbClr val="007E70"/>
          </a:solidFill>
          <a:ln w="12700">
            <a:solidFill>
              <a:srgbClr val="007E7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783080" y="3657600"/>
            <a:ext cx="3337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 err="1" smtClean="0">
                <a:solidFill>
                  <a:srgbClr val="FFFFFF"/>
                </a:solidFill>
                <a:latin typeface="Hana2.0 B" pitchFamily="34" charset="0"/>
                <a:ea typeface="Hana2.0 B" pitchFamily="34" charset="-122"/>
                <a:cs typeface="Hana2.0 B" pitchFamily="34" charset="-120"/>
              </a:rPr>
              <a:t>자료</a:t>
            </a:r>
            <a:r>
              <a:rPr lang="en-US" sz="1000" b="1" dirty="0" smtClean="0">
                <a:solidFill>
                  <a:srgbClr val="FFFFFF"/>
                </a:solidFill>
                <a:latin typeface="Hana2.0 B" pitchFamily="34" charset="0"/>
                <a:ea typeface="Hana2.0 B" pitchFamily="34" charset="-122"/>
                <a:cs typeface="Hana2.0 B" pitchFamily="34" charset="-120"/>
              </a:rPr>
              <a:t> </a:t>
            </a:r>
            <a:r>
              <a:rPr lang="en-US" sz="1000" b="1" dirty="0" err="1" smtClean="0">
                <a:solidFill>
                  <a:srgbClr val="FFFFFF"/>
                </a:solidFill>
                <a:latin typeface="Hana2.0 B" pitchFamily="34" charset="0"/>
                <a:ea typeface="Hana2.0 B" pitchFamily="34" charset="-122"/>
                <a:cs typeface="Hana2.0 B" pitchFamily="34" charset="-120"/>
              </a:rPr>
              <a:t>출처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166360" y="3584448"/>
            <a:ext cx="1417320" cy="310896"/>
          </a:xfrm>
          <a:prstGeom prst="rect">
            <a:avLst/>
          </a:prstGeom>
          <a:solidFill>
            <a:srgbClr val="007E70"/>
          </a:solidFill>
          <a:ln w="12700">
            <a:solidFill>
              <a:srgbClr val="007E7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12080" y="3657600"/>
            <a:ext cx="1325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b="1" dirty="0" smtClean="0">
                <a:solidFill>
                  <a:srgbClr val="FFFFFF"/>
                </a:solidFill>
                <a:latin typeface="Hana2.0 B" pitchFamily="34" charset="0"/>
                <a:ea typeface="Hana2.0 B" pitchFamily="34" charset="-122"/>
                <a:cs typeface="Hana2.0 B" pitchFamily="34" charset="-120"/>
              </a:rPr>
              <a:t>자료 시점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583680" y="3584448"/>
            <a:ext cx="4983480" cy="310896"/>
          </a:xfrm>
          <a:prstGeom prst="rect">
            <a:avLst/>
          </a:prstGeom>
          <a:solidFill>
            <a:srgbClr val="007E70"/>
          </a:solidFill>
          <a:ln w="12700">
            <a:solidFill>
              <a:srgbClr val="007E7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29400" y="3657600"/>
            <a:ext cx="4892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Hana2.0 B" pitchFamily="34" charset="0"/>
                <a:ea typeface="Hana2.0 B" pitchFamily="34" charset="-122"/>
                <a:cs typeface="Hana2.0 B" pitchFamily="34" charset="-120"/>
              </a:rPr>
              <a:t>Tableau 활용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20040" y="3895344"/>
            <a:ext cx="14173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D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3968496"/>
            <a:ext cx="1325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0655A"/>
                </a:solidFill>
                <a:latin typeface="Hana2.0 B" pitchFamily="34" charset="0"/>
                <a:ea typeface="Hana2.0 B" pitchFamily="34" charset="-122"/>
                <a:cs typeface="Hana2.0 B" pitchFamily="34" charset="-120"/>
              </a:rPr>
              <a:t>시장·정책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737360" y="3895344"/>
            <a:ext cx="3429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D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783080" y="3968496"/>
            <a:ext cx="3337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63434"/>
                </a:solidFill>
                <a:latin typeface="Hana2.0 R" pitchFamily="34" charset="0"/>
                <a:ea typeface="Hana2.0 R" pitchFamily="34" charset="-122"/>
                <a:cs typeface="Hana2.0 R" pitchFamily="34" charset="-120"/>
              </a:rPr>
              <a:t>World Bank RPW · FSB KPI Report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166360" y="3895344"/>
            <a:ext cx="14173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D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12080" y="3968496"/>
            <a:ext cx="1325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63434"/>
                </a:solidFill>
                <a:latin typeface="Hana2.0 R" pitchFamily="34" charset="0"/>
                <a:ea typeface="Hana2.0 R" pitchFamily="34" charset="-122"/>
                <a:cs typeface="Hana2.0 R" pitchFamily="34" charset="-120"/>
              </a:rPr>
              <a:t>2011–2025 · 2024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583680" y="3895344"/>
            <a:ext cx="4983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D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629400" y="3968496"/>
            <a:ext cx="4892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63434"/>
                </a:solidFill>
                <a:latin typeface="Hana2.0 R" pitchFamily="34" charset="0"/>
                <a:ea typeface="Hana2.0 R" pitchFamily="34" charset="-122"/>
                <a:cs typeface="Hana2.0 R" pitchFamily="34" charset="-120"/>
              </a:rPr>
              <a:t>국가·송금경로별 비용·속도·접근성 기준 설정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20040" y="4306824"/>
            <a:ext cx="1417320" cy="411480"/>
          </a:xfrm>
          <a:prstGeom prst="rect">
            <a:avLst/>
          </a:prstGeom>
          <a:solidFill>
            <a:srgbClr val="F4F7F6"/>
          </a:solidFill>
          <a:ln w="6350">
            <a:solidFill>
              <a:srgbClr val="D6DED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5760" y="4379976"/>
            <a:ext cx="1325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0655A"/>
                </a:solidFill>
                <a:latin typeface="Hana2.0 B" pitchFamily="34" charset="0"/>
                <a:ea typeface="Hana2.0 B" pitchFamily="34" charset="-122"/>
                <a:cs typeface="Hana2.0 B" pitchFamily="34" charset="-120"/>
              </a:rPr>
              <a:t>비용·구조 연구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1737360" y="4306824"/>
            <a:ext cx="3429000" cy="411480"/>
          </a:xfrm>
          <a:prstGeom prst="rect">
            <a:avLst/>
          </a:prstGeom>
          <a:solidFill>
            <a:srgbClr val="F4F7F6"/>
          </a:solidFill>
          <a:ln w="6350">
            <a:solidFill>
              <a:srgbClr val="D6DED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783080" y="4379976"/>
            <a:ext cx="3337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63434"/>
                </a:solidFill>
                <a:latin typeface="Hana2.0 R" pitchFamily="34" charset="0"/>
                <a:ea typeface="Hana2.0 R" pitchFamily="34" charset="-122"/>
                <a:cs typeface="Hana2.0 R" pitchFamily="34" charset="-120"/>
              </a:rPr>
              <a:t>IMF WP/22/63 · HBS Cross-Border Rails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166360" y="4306824"/>
            <a:ext cx="1417320" cy="411480"/>
          </a:xfrm>
          <a:prstGeom prst="rect">
            <a:avLst/>
          </a:prstGeom>
          <a:solidFill>
            <a:srgbClr val="F4F7F6"/>
          </a:solidFill>
          <a:ln w="6350">
            <a:solidFill>
              <a:srgbClr val="D6DED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212080" y="4379976"/>
            <a:ext cx="1325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63434"/>
                </a:solidFill>
                <a:latin typeface="Hana2.0 R" pitchFamily="34" charset="0"/>
                <a:ea typeface="Hana2.0 R" pitchFamily="34" charset="-122"/>
                <a:cs typeface="Hana2.0 R" pitchFamily="34" charset="-120"/>
              </a:rPr>
              <a:t>2011–2020 · 2026.02.15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583680" y="4306824"/>
            <a:ext cx="4983480" cy="411480"/>
          </a:xfrm>
          <a:prstGeom prst="rect">
            <a:avLst/>
          </a:prstGeom>
          <a:solidFill>
            <a:srgbClr val="F4F7F6"/>
          </a:solidFill>
          <a:ln w="6350">
            <a:solidFill>
              <a:srgbClr val="D6DED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629400" y="4379976"/>
            <a:ext cx="4892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63434"/>
                </a:solidFill>
                <a:latin typeface="Hana2.0 R" pitchFamily="34" charset="0"/>
                <a:ea typeface="Hana2.0 R" pitchFamily="34" charset="-122"/>
                <a:cs typeface="Hana2.0 R" pitchFamily="34" charset="-120"/>
              </a:rPr>
              <a:t>수수료 요인, 경쟁 구조, 은행·MTO·stablecoin rail 비교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320040" y="4718304"/>
            <a:ext cx="14173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D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65760" y="4791456"/>
            <a:ext cx="1325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0655A"/>
                </a:solidFill>
                <a:latin typeface="Hana2.0 B" pitchFamily="34" charset="0"/>
                <a:ea typeface="Hana2.0 B" pitchFamily="34" charset="-122"/>
                <a:cs typeface="Hana2.0 B" pitchFamily="34" charset="-120"/>
              </a:rPr>
              <a:t>글로벌 인프라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1737360" y="4718304"/>
            <a:ext cx="3429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D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783080" y="4791456"/>
            <a:ext cx="3337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63434"/>
                </a:solidFill>
                <a:latin typeface="Hana2.0 R" pitchFamily="34" charset="0"/>
                <a:ea typeface="Hana2.0 R" pitchFamily="34" charset="-122"/>
                <a:cs typeface="Hana2.0 R" pitchFamily="34" charset="-120"/>
              </a:rPr>
              <a:t>BIS mBridge · Project Agorá · Project Nexus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166360" y="4718304"/>
            <a:ext cx="14173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D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212080" y="4791456"/>
            <a:ext cx="1325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63434"/>
                </a:solidFill>
                <a:latin typeface="Hana2.0 R" pitchFamily="34" charset="0"/>
                <a:ea typeface="Hana2.0 R" pitchFamily="34" charset="-122"/>
                <a:cs typeface="Hana2.0 R" pitchFamily="34" charset="-120"/>
              </a:rPr>
              <a:t>2022–2026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6583680" y="4718304"/>
            <a:ext cx="4983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D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629400" y="4791456"/>
            <a:ext cx="4892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63434"/>
                </a:solidFill>
                <a:latin typeface="Hana2.0 R" pitchFamily="34" charset="0"/>
                <a:ea typeface="Hana2.0 R" pitchFamily="34" charset="-122"/>
                <a:cs typeface="Hana2.0 R" pitchFamily="34" charset="-120"/>
              </a:rPr>
              <a:t>CBDC·토큰화 금융·IPS(즉시결제시스템) 연계 방식의 성숙도 비교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320040" y="5129784"/>
            <a:ext cx="1417320" cy="411480"/>
          </a:xfrm>
          <a:prstGeom prst="rect">
            <a:avLst/>
          </a:prstGeom>
          <a:solidFill>
            <a:srgbClr val="F4F7F6"/>
          </a:solidFill>
          <a:ln w="6350">
            <a:solidFill>
              <a:srgbClr val="D6DED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65760" y="5202936"/>
            <a:ext cx="1325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0655A"/>
                </a:solidFill>
                <a:latin typeface="Hana2.0 B" pitchFamily="34" charset="0"/>
                <a:ea typeface="Hana2.0 B" pitchFamily="34" charset="-122"/>
                <a:cs typeface="Hana2.0 B" pitchFamily="34" charset="-120"/>
              </a:rPr>
              <a:t>하나·GIWA·GLN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1737360" y="5129784"/>
            <a:ext cx="3429000" cy="411480"/>
          </a:xfrm>
          <a:prstGeom prst="rect">
            <a:avLst/>
          </a:prstGeom>
          <a:solidFill>
            <a:srgbClr val="F4F7F6"/>
          </a:solidFill>
          <a:ln w="6350">
            <a:solidFill>
              <a:srgbClr val="D6DED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783080" y="5202936"/>
            <a:ext cx="3337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63434"/>
                </a:solidFill>
                <a:latin typeface="Hana2.0 R" pitchFamily="34" charset="0"/>
                <a:ea typeface="Hana2.0 R" pitchFamily="34" charset="-122"/>
                <a:cs typeface="Hana2.0 R" pitchFamily="34" charset="-120"/>
              </a:rPr>
              <a:t>하나금융/하나은행 IR·DART · GIWA PoC 기사 · GLN 자료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5166360" y="5129784"/>
            <a:ext cx="1417320" cy="411480"/>
          </a:xfrm>
          <a:prstGeom prst="rect">
            <a:avLst/>
          </a:prstGeom>
          <a:solidFill>
            <a:srgbClr val="F4F7F6"/>
          </a:solidFill>
          <a:ln w="6350">
            <a:solidFill>
              <a:srgbClr val="D6DED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212080" y="5202936"/>
            <a:ext cx="1325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63434"/>
                </a:solidFill>
                <a:latin typeface="Hana2.0 R" pitchFamily="34" charset="0"/>
                <a:ea typeface="Hana2.0 R" pitchFamily="34" charset="-122"/>
                <a:cs typeface="Hana2.0 R" pitchFamily="34" charset="-120"/>
              </a:rPr>
              <a:t>2021–2026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6583680" y="5129784"/>
            <a:ext cx="4983480" cy="411480"/>
          </a:xfrm>
          <a:prstGeom prst="rect">
            <a:avLst/>
          </a:prstGeom>
          <a:solidFill>
            <a:srgbClr val="F4F7F6"/>
          </a:solidFill>
          <a:ln w="6350">
            <a:solidFill>
              <a:srgbClr val="D6DED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629400" y="5202936"/>
            <a:ext cx="4892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63434"/>
                </a:solidFill>
                <a:latin typeface="Hana2.0 R" pitchFamily="34" charset="0"/>
                <a:ea typeface="Hana2.0 R" pitchFamily="34" charset="-122"/>
                <a:cs typeface="Hana2.0 R" pitchFamily="34" charset="-120"/>
              </a:rPr>
              <a:t>FX 실행 역량, GLN 유통망, GIWA PoC·상용화 단계 확인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320040" y="5541264"/>
            <a:ext cx="14173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D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65760" y="5614416"/>
            <a:ext cx="1325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0655A"/>
                </a:solidFill>
                <a:latin typeface="Hana2.0 B" pitchFamily="34" charset="0"/>
                <a:ea typeface="Hana2.0 B" pitchFamily="34" charset="-122"/>
                <a:cs typeface="Hana2.0 B" pitchFamily="34" charset="-120"/>
              </a:rPr>
              <a:t>은행 비교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1737360" y="5541264"/>
            <a:ext cx="3429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DC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783080" y="5614416"/>
            <a:ext cx="3337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63434"/>
                </a:solidFill>
                <a:latin typeface="Hana2.0 R" pitchFamily="34" charset="0"/>
                <a:ea typeface="Hana2.0 R" pitchFamily="34" charset="-122"/>
                <a:cs typeface="Hana2.0 R" pitchFamily="34" charset="-120"/>
              </a:rPr>
              <a:t>KB·신한·우리·하나 금융그룹 IR/DART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5166360" y="5541264"/>
            <a:ext cx="14173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DC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212080" y="5614416"/>
            <a:ext cx="1325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63434"/>
                </a:solidFill>
                <a:latin typeface="Hana2.0 R" pitchFamily="34" charset="0"/>
                <a:ea typeface="Hana2.0 R" pitchFamily="34" charset="-122"/>
                <a:cs typeface="Hana2.0 R" pitchFamily="34" charset="-120"/>
              </a:rPr>
              <a:t>2021–2025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6583680" y="5541264"/>
            <a:ext cx="4983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DC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629400" y="5614416"/>
            <a:ext cx="4892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63434"/>
                </a:solidFill>
                <a:latin typeface="Hana2.0 R" pitchFamily="34" charset="0"/>
                <a:ea typeface="Hana2.0 R" pitchFamily="34" charset="-122"/>
                <a:cs typeface="Hana2.0 R" pitchFamily="34" charset="-120"/>
              </a:rPr>
              <a:t>4대 금융그룹의 FX·해외사업·재무지표 비교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320040" y="6144768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747B7B"/>
                </a:solidFill>
                <a:latin typeface="Hana2.0 R" pitchFamily="34" charset="0"/>
                <a:ea typeface="Hana2.0 R" pitchFamily="34" charset="-122"/>
                <a:cs typeface="Hana2.0 R" pitchFamily="34" charset="-120"/>
              </a:rPr>
              <a:t>참고: </a:t>
            </a:r>
            <a:r>
              <a:rPr lang="en-US" sz="750" dirty="0" err="1" smtClean="0">
                <a:solidFill>
                  <a:srgbClr val="747B7B"/>
                </a:solidFill>
                <a:latin typeface="Hana2.0 R" pitchFamily="34" charset="0"/>
                <a:ea typeface="Hana2.0 R" pitchFamily="34" charset="-122"/>
                <a:cs typeface="Hana2.0 R" pitchFamily="34" charset="-120"/>
              </a:rPr>
              <a:t>상세</a:t>
            </a:r>
            <a:r>
              <a:rPr lang="en-US" sz="750" dirty="0" smtClean="0">
                <a:solidFill>
                  <a:srgbClr val="747B7B"/>
                </a:solidFill>
                <a:latin typeface="Hana2.0 R" pitchFamily="34" charset="0"/>
                <a:ea typeface="Hana2.0 R" pitchFamily="34" charset="-122"/>
                <a:cs typeface="Hana2.0 R" pitchFamily="34" charset="-120"/>
              </a:rPr>
              <a:t> </a:t>
            </a:r>
            <a:r>
              <a:rPr lang="en-US" sz="750" dirty="0">
                <a:solidFill>
                  <a:srgbClr val="747B7B"/>
                </a:solidFill>
                <a:latin typeface="Hana2.0 R" pitchFamily="34" charset="0"/>
                <a:ea typeface="Hana2.0 R" pitchFamily="34" charset="-122"/>
                <a:cs typeface="Hana2.0 R" pitchFamily="34" charset="-120"/>
              </a:rPr>
              <a:t>해석은 각 대시보드의 Tooltip과 가드레일 문구에 반영했습니다.</a:t>
            </a:r>
            <a:endParaRPr lang="en-US" sz="750" dirty="0"/>
          </a:p>
        </p:txBody>
      </p:sp>
      <p:pic>
        <p:nvPicPr>
          <p:cNvPr id="999" name="Hana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8655" y="298640"/>
            <a:ext cx="573000" cy="50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7E70"/>
          </a:solidFill>
          <a:ln w="12700">
            <a:solidFill>
              <a:srgbClr val="007E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B2B"/>
                </a:solidFill>
                <a:latin typeface="Hana2.0 H" pitchFamily="34" charset="0"/>
                <a:ea typeface="Hana2.0 H" pitchFamily="34" charset="-122"/>
                <a:cs typeface="Hana2.0 H" pitchFamily="34" charset="-120"/>
              </a:rPr>
              <a:t>대시보드 인사이트와 활용 방안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11338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47B7B"/>
                </a:solidFill>
                <a:latin typeface="Hana2.0 R" pitchFamily="34" charset="0"/>
                <a:ea typeface="Hana2.0 R" pitchFamily="34" charset="-122"/>
                <a:cs typeface="Hana2.0 R" pitchFamily="34" charset="-120"/>
              </a:rPr>
              <a:t>기존 자산은 활용하되, GIWA는 후속 근거가 확보될 때 단계적으로 진전하는 전략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320040" y="10241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E70"/>
                </a:solidFill>
                <a:latin typeface="Hana2.0 B" pitchFamily="34" charset="0"/>
                <a:ea typeface="Hana2.0 B" pitchFamily="34" charset="-122"/>
                <a:cs typeface="Hana2.0 B" pitchFamily="34" charset="-120"/>
              </a:rPr>
              <a:t>1. 주요 분석 결과와 인사이트</a:t>
            </a:r>
            <a:endParaRPr lang="en-US" sz="1050" dirty="0"/>
          </a:p>
        </p:txBody>
      </p:sp>
      <p:grpSp>
        <p:nvGrpSpPr>
          <p:cNvPr id="53" name="그룹 52"/>
          <p:cNvGrpSpPr/>
          <p:nvPr/>
        </p:nvGrpSpPr>
        <p:grpSpPr>
          <a:xfrm>
            <a:off x="320040" y="1353312"/>
            <a:ext cx="2994660" cy="868680"/>
            <a:chOff x="320040" y="1353312"/>
            <a:chExt cx="2994660" cy="868680"/>
          </a:xfrm>
        </p:grpSpPr>
        <p:sp>
          <p:nvSpPr>
            <p:cNvPr id="6" name="Shape 4"/>
            <p:cNvSpPr/>
            <p:nvPr/>
          </p:nvSpPr>
          <p:spPr>
            <a:xfrm>
              <a:off x="320040" y="1353312"/>
              <a:ext cx="2994660" cy="868680"/>
            </a:xfrm>
            <a:prstGeom prst="roundRect">
              <a:avLst>
                <a:gd name="adj" fmla="val 12632"/>
              </a:avLst>
            </a:prstGeom>
            <a:solidFill>
              <a:srgbClr val="F1FAF8"/>
            </a:solidFill>
            <a:ln w="8890">
              <a:solidFill>
                <a:srgbClr val="D6E7E3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484632" y="1472184"/>
              <a:ext cx="26746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1030" b="1" dirty="0">
                  <a:solidFill>
                    <a:srgbClr val="00655A"/>
                  </a:solidFill>
                  <a:latin typeface="Hana2.0 B" pitchFamily="34" charset="0"/>
                  <a:ea typeface="Hana2.0 B" pitchFamily="34" charset="-122"/>
                  <a:cs typeface="Hana2.0 B" pitchFamily="34" charset="-120"/>
                </a:rPr>
                <a:t>① 크로스보더 결제 문제는 복합적</a:t>
              </a:r>
              <a:endParaRPr lang="en-US" sz="103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484632" y="1737360"/>
              <a:ext cx="2674620" cy="3383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820" dirty="0">
                  <a:solidFill>
                    <a:srgbClr val="263434"/>
                  </a:solidFill>
                  <a:latin typeface="Hana2.0 R" pitchFamily="34" charset="0"/>
                  <a:ea typeface="Hana2.0 R" pitchFamily="34" charset="-122"/>
                  <a:cs typeface="Hana2.0 R" pitchFamily="34" charset="-120"/>
                </a:rPr>
                <a:t>비용·속도·FX·유동성·규제·상호운용성이 함께 작동하며, 상호운용성은 9개 판정 차원 중 유일한 "critical" 리스크입니다.</a:t>
              </a:r>
              <a:endParaRPr lang="en-US" sz="820" dirty="0"/>
            </a:p>
          </p:txBody>
        </p:sp>
      </p:grpSp>
      <p:grpSp>
        <p:nvGrpSpPr>
          <p:cNvPr id="54" name="그룹 53"/>
          <p:cNvGrpSpPr/>
          <p:nvPr/>
        </p:nvGrpSpPr>
        <p:grpSpPr>
          <a:xfrm>
            <a:off x="3497580" y="1353312"/>
            <a:ext cx="2994660" cy="868680"/>
            <a:chOff x="3497580" y="1353312"/>
            <a:chExt cx="2994660" cy="868680"/>
          </a:xfrm>
        </p:grpSpPr>
        <p:sp>
          <p:nvSpPr>
            <p:cNvPr id="9" name="Shape 7"/>
            <p:cNvSpPr/>
            <p:nvPr/>
          </p:nvSpPr>
          <p:spPr>
            <a:xfrm>
              <a:off x="3497580" y="1353312"/>
              <a:ext cx="2994660" cy="868680"/>
            </a:xfrm>
            <a:prstGeom prst="roundRect">
              <a:avLst>
                <a:gd name="adj" fmla="val 12632"/>
              </a:avLst>
            </a:prstGeom>
            <a:solidFill>
              <a:srgbClr val="FFFFFF"/>
            </a:solidFill>
            <a:ln w="8890">
              <a:solidFill>
                <a:srgbClr val="D6E7E3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3662172" y="1472184"/>
              <a:ext cx="26746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1030" b="1" dirty="0">
                  <a:solidFill>
                    <a:srgbClr val="00655A"/>
                  </a:solidFill>
                  <a:latin typeface="Hana2.0 B" pitchFamily="34" charset="0"/>
                  <a:ea typeface="Hana2.0 B" pitchFamily="34" charset="-122"/>
                  <a:cs typeface="Hana2.0 B" pitchFamily="34" charset="-120"/>
                </a:rPr>
                <a:t>② 하나은행은 활용 가능한 기존 기반 보유</a:t>
              </a:r>
              <a:endParaRPr lang="en-US" sz="103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3662172" y="1737360"/>
              <a:ext cx="2674620" cy="3383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820" dirty="0">
                  <a:solidFill>
                    <a:srgbClr val="263434"/>
                  </a:solidFill>
                  <a:latin typeface="Hana2.0 R" pitchFamily="34" charset="0"/>
                  <a:ea typeface="Hana2.0 R" pitchFamily="34" charset="-122"/>
                  <a:cs typeface="Hana2.0 R" pitchFamily="34" charset="-120"/>
                </a:rPr>
                <a:t>GLN 230+백만 가맹점·15개국. FX·GLN은 GIWA와 별도로 존재하는 운영 자산입니다.</a:t>
              </a:r>
              <a:endParaRPr lang="en-US" sz="820" dirty="0"/>
            </a:p>
          </p:txBody>
        </p:sp>
      </p:grpSp>
      <p:grpSp>
        <p:nvGrpSpPr>
          <p:cNvPr id="55" name="그룹 54"/>
          <p:cNvGrpSpPr/>
          <p:nvPr/>
        </p:nvGrpSpPr>
        <p:grpSpPr>
          <a:xfrm>
            <a:off x="320040" y="2441448"/>
            <a:ext cx="2994660" cy="868680"/>
            <a:chOff x="320040" y="2441448"/>
            <a:chExt cx="2994660" cy="868680"/>
          </a:xfrm>
        </p:grpSpPr>
        <p:sp>
          <p:nvSpPr>
            <p:cNvPr id="12" name="Shape 10"/>
            <p:cNvSpPr/>
            <p:nvPr/>
          </p:nvSpPr>
          <p:spPr>
            <a:xfrm>
              <a:off x="320040" y="2441448"/>
              <a:ext cx="2994660" cy="868680"/>
            </a:xfrm>
            <a:prstGeom prst="roundRect">
              <a:avLst>
                <a:gd name="adj" fmla="val 12632"/>
              </a:avLst>
            </a:prstGeom>
            <a:solidFill>
              <a:srgbClr val="FFFFFF"/>
            </a:solidFill>
            <a:ln w="8890">
              <a:solidFill>
                <a:srgbClr val="D6E7E3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484632" y="2560320"/>
              <a:ext cx="26746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1030" b="1" dirty="0">
                  <a:solidFill>
                    <a:srgbClr val="00655A"/>
                  </a:solidFill>
                  <a:latin typeface="Hana2.0 B" pitchFamily="34" charset="0"/>
                  <a:ea typeface="Hana2.0 B" pitchFamily="34" charset="-122"/>
                  <a:cs typeface="Hana2.0 B" pitchFamily="34" charset="-120"/>
                </a:rPr>
                <a:t>③ GIWA는 PoC 이후 검증 단계가 남음</a:t>
              </a:r>
              <a:endParaRPr lang="en-US" sz="103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484632" y="2825496"/>
              <a:ext cx="2674620" cy="3383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820" dirty="0">
                  <a:solidFill>
                    <a:srgbClr val="263434"/>
                  </a:solidFill>
                  <a:latin typeface="Hana2.0 R" pitchFamily="34" charset="0"/>
                  <a:ea typeface="Hana2.0 R" pitchFamily="34" charset="-122"/>
                  <a:cs typeface="Hana2.0 R" pitchFamily="34" charset="-120"/>
                </a:rPr>
                <a:t>공식 채택, 운영 시스템 통합, 성능, 상용 거래, 경제성은 각각 별도 근거가 필요합니다.</a:t>
              </a:r>
              <a:endParaRPr lang="en-US" sz="820" dirty="0"/>
            </a:p>
          </p:txBody>
        </p:sp>
      </p:grpSp>
      <p:grpSp>
        <p:nvGrpSpPr>
          <p:cNvPr id="56" name="그룹 55"/>
          <p:cNvGrpSpPr/>
          <p:nvPr/>
        </p:nvGrpSpPr>
        <p:grpSpPr>
          <a:xfrm>
            <a:off x="3497580" y="2441448"/>
            <a:ext cx="2994660" cy="868680"/>
            <a:chOff x="3497580" y="2441448"/>
            <a:chExt cx="2994660" cy="868680"/>
          </a:xfrm>
        </p:grpSpPr>
        <p:sp>
          <p:nvSpPr>
            <p:cNvPr id="15" name="Shape 13"/>
            <p:cNvSpPr/>
            <p:nvPr/>
          </p:nvSpPr>
          <p:spPr>
            <a:xfrm>
              <a:off x="3497580" y="2441448"/>
              <a:ext cx="2994660" cy="868680"/>
            </a:xfrm>
            <a:prstGeom prst="roundRect">
              <a:avLst>
                <a:gd name="adj" fmla="val 12632"/>
              </a:avLst>
            </a:prstGeom>
            <a:solidFill>
              <a:srgbClr val="FFFFFF"/>
            </a:solidFill>
            <a:ln w="8890">
              <a:solidFill>
                <a:srgbClr val="D6E7E3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3662172" y="2560320"/>
              <a:ext cx="26746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1030" b="1" dirty="0">
                  <a:solidFill>
                    <a:srgbClr val="00655A"/>
                  </a:solidFill>
                  <a:latin typeface="Hana2.0 B" pitchFamily="34" charset="0"/>
                  <a:ea typeface="Hana2.0 B" pitchFamily="34" charset="-122"/>
                  <a:cs typeface="Hana2.0 B" pitchFamily="34" charset="-120"/>
                </a:rPr>
                <a:t>④ 판단은 단계별 검증 방식이 적합</a:t>
              </a:r>
              <a:endParaRPr lang="en-US" sz="103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3662172" y="2825496"/>
              <a:ext cx="2674620" cy="3383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820" dirty="0">
                  <a:solidFill>
                    <a:srgbClr val="263434"/>
                  </a:solidFill>
                  <a:latin typeface="Hana2.0 R" pitchFamily="34" charset="0"/>
                  <a:ea typeface="Hana2.0 R" pitchFamily="34" charset="-122"/>
                  <a:cs typeface="Hana2.0 R" pitchFamily="34" charset="-120"/>
                </a:rPr>
                <a:t>각 단계의 근거가 확인될 때 GIWA 투자·확대 판단을 업데이트합니다.</a:t>
              </a:r>
              <a:endParaRPr lang="en-US" sz="820" dirty="0"/>
            </a:p>
          </p:txBody>
        </p:sp>
      </p:grpSp>
      <p:sp>
        <p:nvSpPr>
          <p:cNvPr id="18" name="Shape 16"/>
          <p:cNvSpPr/>
          <p:nvPr/>
        </p:nvSpPr>
        <p:spPr>
          <a:xfrm>
            <a:off x="6537960" y="1005840"/>
            <a:ext cx="5303520" cy="2580000"/>
          </a:xfrm>
          <a:prstGeom prst="roundRect">
            <a:avLst>
              <a:gd name="adj" fmla="val 5854"/>
            </a:avLst>
          </a:prstGeom>
          <a:solidFill>
            <a:srgbClr val="F1FAF8"/>
          </a:solidFill>
          <a:ln w="8890">
            <a:solidFill>
              <a:srgbClr val="CFE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34172" y="12070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7E70"/>
                </a:solidFill>
                <a:latin typeface="Hana2.0 B" pitchFamily="34" charset="0"/>
                <a:ea typeface="Hana2.0 B" pitchFamily="34" charset="-122"/>
                <a:cs typeface="Hana2.0 B" pitchFamily="34" charset="-120"/>
              </a:rPr>
              <a:t>2. 최종 의사결정</a:t>
            </a:r>
            <a:endParaRPr lang="en-US" sz="1050" dirty="0"/>
          </a:p>
        </p:txBody>
      </p:sp>
      <p:sp>
        <p:nvSpPr>
          <p:cNvPr id="951" name="Shape 951"/>
          <p:cNvSpPr/>
          <p:nvPr/>
        </p:nvSpPr>
        <p:spPr>
          <a:xfrm>
            <a:off x="8234172" y="874068"/>
            <a:ext cx="1828800" cy="246888"/>
          </a:xfrm>
          <a:prstGeom prst="roundRect">
            <a:avLst>
              <a:gd name="adj" fmla="val 50000"/>
            </a:avLst>
          </a:prstGeom>
          <a:solidFill>
            <a:srgbClr val="007E70"/>
          </a:solidFill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Hana2.0 B" pitchFamily="34" charset="0"/>
                <a:ea typeface="Hana2.0 B" pitchFamily="34" charset="-122"/>
                <a:cs typeface="Hana2.0 B" pitchFamily="34" charset="-120"/>
              </a:rPr>
              <a:t>판단 유보 · 단계적 검증</a:t>
            </a:r>
          </a:p>
        </p:txBody>
      </p:sp>
      <p:sp>
        <p:nvSpPr>
          <p:cNvPr id="20" name="Text 18"/>
          <p:cNvSpPr/>
          <p:nvPr/>
        </p:nvSpPr>
        <p:spPr>
          <a:xfrm>
            <a:off x="6748272" y="1481327"/>
            <a:ext cx="4800600" cy="406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B2B2B"/>
                </a:solidFill>
                <a:latin typeface="Hana2.0 B" pitchFamily="34" charset="0"/>
                <a:ea typeface="Hana2.0 B" pitchFamily="34" charset="-122"/>
                <a:cs typeface="Hana2.0 B" pitchFamily="34" charset="-120"/>
              </a:rPr>
              <a:t>FX·GLN은 현재 활용 가능한 운영 자산입니다. </a:t>
            </a:r>
            <a:endParaRPr lang="en-US" sz="1080" dirty="0" smtClean="0">
              <a:solidFill>
                <a:srgbClr val="1B2B2B"/>
              </a:solidFill>
              <a:latin typeface="Hana2.0 B" pitchFamily="34" charset="0"/>
              <a:ea typeface="Hana2.0 B" pitchFamily="34" charset="-122"/>
              <a:cs typeface="Hana2.0 B" pitchFamily="34" charset="-120"/>
            </a:endParaRPr>
          </a:p>
          <a:p>
            <a:pPr marL="0" indent="0" algn="ctr">
              <a:buNone/>
            </a:pPr>
            <a:r>
              <a:rPr lang="en-US" sz="1080" dirty="0" err="1" smtClean="0">
                <a:solidFill>
                  <a:srgbClr val="1B2B2B"/>
                </a:solidFill>
                <a:latin typeface="Hana2.0 B" pitchFamily="34" charset="0"/>
                <a:ea typeface="Hana2.0 B" pitchFamily="34" charset="-122"/>
                <a:cs typeface="Hana2.0 B" pitchFamily="34" charset="-120"/>
              </a:rPr>
              <a:t>다만</a:t>
            </a:r>
            <a:r>
              <a:rPr lang="en-US" sz="1080" dirty="0" smtClean="0">
                <a:solidFill>
                  <a:srgbClr val="1B2B2B"/>
                </a:solidFill>
                <a:latin typeface="Hana2.0 B" pitchFamily="34" charset="0"/>
                <a:ea typeface="Hana2.0 B" pitchFamily="34" charset="-122"/>
                <a:cs typeface="Hana2.0 B" pitchFamily="34" charset="-120"/>
              </a:rPr>
              <a:t> </a:t>
            </a:r>
            <a:r>
              <a:rPr lang="en-US" sz="1080" dirty="0">
                <a:solidFill>
                  <a:srgbClr val="1B2B2B"/>
                </a:solidFill>
                <a:latin typeface="Hana2.0 B" pitchFamily="34" charset="0"/>
                <a:ea typeface="Hana2.0 B" pitchFamily="34" charset="-122"/>
                <a:cs typeface="Hana2.0 B" pitchFamily="34" charset="-120"/>
              </a:rPr>
              <a:t>GLN은 reach가 강할 뿐 </a:t>
            </a:r>
            <a:endParaRPr lang="en-US" sz="1080" dirty="0" smtClean="0">
              <a:solidFill>
                <a:srgbClr val="1B2B2B"/>
              </a:solidFill>
              <a:latin typeface="Hana2.0 B" pitchFamily="34" charset="0"/>
              <a:ea typeface="Hana2.0 B" pitchFamily="34" charset="-122"/>
              <a:cs typeface="Hana2.0 B" pitchFamily="34" charset="-120"/>
            </a:endParaRPr>
          </a:p>
          <a:p>
            <a:pPr marL="0" indent="0" algn="ctr">
              <a:buNone/>
            </a:pPr>
            <a:r>
              <a:rPr lang="en-US" sz="1080" dirty="0" err="1" smtClean="0">
                <a:solidFill>
                  <a:srgbClr val="1B2B2B"/>
                </a:solidFill>
                <a:latin typeface="Hana2.0 B" pitchFamily="34" charset="0"/>
                <a:ea typeface="Hana2.0 B" pitchFamily="34" charset="-122"/>
                <a:cs typeface="Hana2.0 B" pitchFamily="34" charset="-120"/>
              </a:rPr>
              <a:t>배타성</a:t>
            </a:r>
            <a:r>
              <a:rPr lang="en-US" sz="1080" dirty="0" err="1">
                <a:solidFill>
                  <a:srgbClr val="1B2B2B"/>
                </a:solidFill>
                <a:latin typeface="Hana2.0 B" pitchFamily="34" charset="0"/>
                <a:ea typeface="Hana2.0 B" pitchFamily="34" charset="-122"/>
                <a:cs typeface="Hana2.0 B" pitchFamily="34" charset="-120"/>
              </a:rPr>
              <a:t>·수익성은</a:t>
            </a:r>
            <a:r>
              <a:rPr lang="en-US" sz="1080" dirty="0">
                <a:solidFill>
                  <a:srgbClr val="1B2B2B"/>
                </a:solidFill>
                <a:latin typeface="Hana2.0 B" pitchFamily="34" charset="0"/>
                <a:ea typeface="Hana2.0 B" pitchFamily="34" charset="-122"/>
                <a:cs typeface="Hana2.0 B" pitchFamily="34" charset="-120"/>
              </a:rPr>
              <a:t> 미검증입니다.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6795131" y="1906524"/>
            <a:ext cx="48005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263434"/>
                </a:solidFill>
                <a:latin typeface="Hana2.0 R" pitchFamily="34" charset="0"/>
                <a:ea typeface="Hana2.0 R" pitchFamily="34" charset="-122"/>
                <a:cs typeface="Hana2.0 R" pitchFamily="34" charset="-120"/>
              </a:rPr>
              <a:t>GIWA는 이미 확립된 경쟁우위가 아니라, </a:t>
            </a:r>
            <a:endParaRPr lang="en-US" sz="950" dirty="0" smtClean="0">
              <a:solidFill>
                <a:srgbClr val="263434"/>
              </a:solidFill>
              <a:latin typeface="Hana2.0 R" pitchFamily="34" charset="0"/>
              <a:ea typeface="Hana2.0 R" pitchFamily="34" charset="-122"/>
              <a:cs typeface="Hana2.0 R" pitchFamily="34" charset="-120"/>
            </a:endParaRPr>
          </a:p>
          <a:p>
            <a:pPr marL="0" indent="0" algn="ctr">
              <a:buNone/>
            </a:pPr>
            <a:r>
              <a:rPr lang="en-US" sz="950" dirty="0" err="1" smtClean="0">
                <a:solidFill>
                  <a:srgbClr val="263434"/>
                </a:solidFill>
                <a:latin typeface="Hana2.0 R" pitchFamily="34" charset="0"/>
                <a:ea typeface="Hana2.0 R" pitchFamily="34" charset="-122"/>
                <a:cs typeface="Hana2.0 R" pitchFamily="34" charset="-120"/>
              </a:rPr>
              <a:t>단계별</a:t>
            </a:r>
            <a:r>
              <a:rPr lang="en-US" sz="950" dirty="0" smtClean="0">
                <a:solidFill>
                  <a:srgbClr val="263434"/>
                </a:solidFill>
                <a:latin typeface="Hana2.0 R" pitchFamily="34" charset="0"/>
                <a:ea typeface="Hana2.0 R" pitchFamily="34" charset="-122"/>
                <a:cs typeface="Hana2.0 R" pitchFamily="34" charset="-120"/>
              </a:rPr>
              <a:t> </a:t>
            </a:r>
            <a:r>
              <a:rPr lang="en-US" sz="950" dirty="0">
                <a:solidFill>
                  <a:srgbClr val="263434"/>
                </a:solidFill>
                <a:latin typeface="Hana2.0 R" pitchFamily="34" charset="0"/>
                <a:ea typeface="Hana2.0 R" pitchFamily="34" charset="-122"/>
                <a:cs typeface="Hana2.0 R" pitchFamily="34" charset="-120"/>
              </a:rPr>
              <a:t>검증이 필요한 전략적 옵션으로 관리하는 것이 적절합니다.</a:t>
            </a:r>
            <a:endParaRPr lang="en-US" sz="950" dirty="0"/>
          </a:p>
        </p:txBody>
      </p:sp>
      <p:sp>
        <p:nvSpPr>
          <p:cNvPr id="950" name="Shape 950"/>
          <p:cNvSpPr/>
          <p:nvPr/>
        </p:nvSpPr>
        <p:spPr>
          <a:xfrm>
            <a:off x="6650000" y="2337440"/>
            <a:ext cx="5079440" cy="1181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E7E3"/>
            </a:solidFill>
          </a:ln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005572" y="242069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655A"/>
                </a:solidFill>
                <a:latin typeface="Hana2.0 B" pitchFamily="34" charset="0"/>
                <a:ea typeface="Hana2.0 B" pitchFamily="34" charset="-122"/>
                <a:cs typeface="Hana2.0 B" pitchFamily="34" charset="-120"/>
              </a:rPr>
              <a:t>판단을 바꾸는 핵심 증거</a:t>
            </a:r>
            <a:endParaRPr lang="en-US" sz="900" dirty="0"/>
          </a:p>
        </p:txBody>
      </p:sp>
      <p:grpSp>
        <p:nvGrpSpPr>
          <p:cNvPr id="62" name="그룹 61"/>
          <p:cNvGrpSpPr/>
          <p:nvPr/>
        </p:nvGrpSpPr>
        <p:grpSpPr>
          <a:xfrm>
            <a:off x="6910789" y="2658410"/>
            <a:ext cx="4654708" cy="679135"/>
            <a:chOff x="6910789" y="2658410"/>
            <a:chExt cx="4654708" cy="679135"/>
          </a:xfrm>
        </p:grpSpPr>
        <p:sp>
          <p:nvSpPr>
            <p:cNvPr id="23" name="Text 21"/>
            <p:cNvSpPr/>
            <p:nvPr/>
          </p:nvSpPr>
          <p:spPr>
            <a:xfrm>
              <a:off x="6910789" y="2665892"/>
              <a:ext cx="16459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dirty="0">
                  <a:solidFill>
                    <a:srgbClr val="007E70"/>
                  </a:solidFill>
                  <a:latin typeface="Hana2.0 B" pitchFamily="34" charset="0"/>
                  <a:ea typeface="Hana2.0 B" pitchFamily="34" charset="-122"/>
                  <a:cs typeface="Hana2.0 B" pitchFamily="34" charset="-120"/>
                </a:rPr>
                <a:t>•</a:t>
              </a:r>
              <a:endParaRPr lang="en-US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7045453" y="2665061"/>
              <a:ext cx="1205345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92500"/>
            </a:bodyPr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263434"/>
                  </a:solidFill>
                  <a:latin typeface="Hana2.0 R" pitchFamily="34" charset="0"/>
                  <a:ea typeface="Hana2.0 R" pitchFamily="34" charset="-122"/>
                  <a:cs typeface="Hana2.0 R" pitchFamily="34" charset="-120"/>
                </a:rPr>
                <a:t>공식 생산 아키텍처 채택</a:t>
              </a:r>
              <a:endParaRPr lang="en-US" sz="10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6910789" y="2897394"/>
              <a:ext cx="16459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dirty="0">
                  <a:solidFill>
                    <a:srgbClr val="007E70"/>
                  </a:solidFill>
                  <a:latin typeface="Hana2.0 B" pitchFamily="34" charset="0"/>
                  <a:ea typeface="Hana2.0 B" pitchFamily="34" charset="-122"/>
                  <a:cs typeface="Hana2.0 B" pitchFamily="34" charset="-120"/>
                </a:rPr>
                <a:t>•</a:t>
              </a:r>
              <a:endParaRPr lang="en-US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7045453" y="2900719"/>
              <a:ext cx="1413164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92500"/>
            </a:bodyPr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263434"/>
                  </a:solidFill>
                  <a:latin typeface="Hana2.0 R" pitchFamily="34" charset="0"/>
                  <a:ea typeface="Hana2.0 R" pitchFamily="34" charset="-122"/>
                  <a:cs typeface="Hana2.0 R" pitchFamily="34" charset="-120"/>
                </a:rPr>
                <a:t>은행 실제 운영 시스템과 통합</a:t>
              </a:r>
              <a:endParaRPr lang="en-US" sz="10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6910789" y="3128895"/>
              <a:ext cx="16459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dirty="0">
                  <a:solidFill>
                    <a:srgbClr val="007E70"/>
                  </a:solidFill>
                  <a:latin typeface="Hana2.0 B" pitchFamily="34" charset="0"/>
                  <a:ea typeface="Hana2.0 B" pitchFamily="34" charset="-122"/>
                  <a:cs typeface="Hana2.0 B" pitchFamily="34" charset="-120"/>
                </a:rPr>
                <a:t>•</a:t>
              </a:r>
              <a:endParaRPr lang="en-US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7045453" y="3136377"/>
              <a:ext cx="237513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263434"/>
                  </a:solidFill>
                  <a:latin typeface="Hana2.0 R" pitchFamily="34" charset="0"/>
                  <a:ea typeface="Hana2.0 R" pitchFamily="34" charset="-122"/>
                  <a:cs typeface="Hana2.0 R" pitchFamily="34" charset="-120"/>
                </a:rPr>
                <a:t>실측 속도(5A)와 실측 비용(5B)은 각각 별도 판정</a:t>
              </a:r>
              <a:endParaRPr lang="en-US" sz="9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9403957" y="2658410"/>
              <a:ext cx="16459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dirty="0">
                  <a:solidFill>
                    <a:srgbClr val="007E70"/>
                  </a:solidFill>
                  <a:latin typeface="Hana2.0 B" pitchFamily="34" charset="0"/>
                  <a:ea typeface="Hana2.0 B" pitchFamily="34" charset="-122"/>
                  <a:cs typeface="Hana2.0 B" pitchFamily="34" charset="-120"/>
                </a:rPr>
                <a:t>•</a:t>
              </a:r>
              <a:endParaRPr lang="en-US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9538621" y="2665892"/>
              <a:ext cx="148797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92500"/>
            </a:bodyPr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263434"/>
                  </a:solidFill>
                  <a:latin typeface="Hana2.0 R" pitchFamily="34" charset="0"/>
                  <a:ea typeface="Hana2.0 R" pitchFamily="34" charset="-122"/>
                  <a:cs typeface="Hana2.0 R" pitchFamily="34" charset="-120"/>
                </a:rPr>
                <a:t>실제 가치가 이전되는 상용 거래</a:t>
              </a:r>
              <a:endParaRPr lang="en-US" sz="10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9403957" y="2873285"/>
              <a:ext cx="16459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dirty="0">
                  <a:solidFill>
                    <a:srgbClr val="007E70"/>
                  </a:solidFill>
                  <a:latin typeface="Hana2.0 B" pitchFamily="34" charset="0"/>
                  <a:ea typeface="Hana2.0 B" pitchFamily="34" charset="-122"/>
                  <a:cs typeface="Hana2.0 B" pitchFamily="34" charset="-120"/>
                </a:rPr>
                <a:t>•</a:t>
              </a:r>
              <a:endParaRPr lang="en-US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9538620" y="2880767"/>
              <a:ext cx="2026877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263434"/>
                  </a:solidFill>
                  <a:latin typeface="Hana2.0 R" pitchFamily="34" charset="0"/>
                  <a:ea typeface="Hana2.0 R" pitchFamily="34" charset="-122"/>
                  <a:cs typeface="Hana2.0 R" pitchFamily="34" charset="-120"/>
                </a:rPr>
                <a:t>반복 가능한 수익·비용·경제성 확인</a:t>
              </a:r>
              <a:endParaRPr lang="en-US" sz="900" dirty="0"/>
            </a:p>
          </p:txBody>
        </p:sp>
      </p:grpSp>
      <p:sp>
        <p:nvSpPr>
          <p:cNvPr id="33" name="Text 31"/>
          <p:cNvSpPr/>
          <p:nvPr/>
        </p:nvSpPr>
        <p:spPr>
          <a:xfrm>
            <a:off x="320040" y="34564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E70"/>
                </a:solidFill>
                <a:latin typeface="Hana2.0 B" pitchFamily="34" charset="0"/>
                <a:ea typeface="Hana2.0 B" pitchFamily="34" charset="-122"/>
                <a:cs typeface="Hana2.0 B" pitchFamily="34" charset="-120"/>
              </a:rPr>
              <a:t>3. 대시보드 활용 방안</a:t>
            </a:r>
            <a:endParaRPr lang="en-US" sz="1050" dirty="0"/>
          </a:p>
        </p:txBody>
      </p:sp>
      <p:grpSp>
        <p:nvGrpSpPr>
          <p:cNvPr id="57" name="그룹 56"/>
          <p:cNvGrpSpPr/>
          <p:nvPr/>
        </p:nvGrpSpPr>
        <p:grpSpPr>
          <a:xfrm>
            <a:off x="320040" y="3685032"/>
            <a:ext cx="11521440" cy="429768"/>
            <a:chOff x="320040" y="3685032"/>
            <a:chExt cx="11521440" cy="429768"/>
          </a:xfrm>
        </p:grpSpPr>
        <p:sp>
          <p:nvSpPr>
            <p:cNvPr id="34" name="Shape 32"/>
            <p:cNvSpPr/>
            <p:nvPr/>
          </p:nvSpPr>
          <p:spPr>
            <a:xfrm>
              <a:off x="320040" y="3685032"/>
              <a:ext cx="11521440" cy="429768"/>
            </a:xfrm>
            <a:prstGeom prst="roundRect">
              <a:avLst>
                <a:gd name="adj" fmla="val 25532"/>
              </a:avLst>
            </a:prstGeom>
            <a:solidFill>
              <a:srgbClr val="FFFFFF"/>
            </a:solidFill>
            <a:ln w="8890">
              <a:solidFill>
                <a:srgbClr val="D6DEDC"/>
              </a:solidFill>
              <a:prstDash val="solid"/>
            </a:ln>
          </p:spPr>
        </p:sp>
        <p:sp>
          <p:nvSpPr>
            <p:cNvPr id="35" name="Shape 33"/>
            <p:cNvSpPr/>
            <p:nvPr/>
          </p:nvSpPr>
          <p:spPr>
            <a:xfrm>
              <a:off x="466344" y="3776472"/>
              <a:ext cx="1298448" cy="246888"/>
            </a:xfrm>
            <a:prstGeom prst="roundRect">
              <a:avLst>
                <a:gd name="adj" fmla="val 33333"/>
              </a:avLst>
            </a:prstGeom>
            <a:solidFill>
              <a:srgbClr val="007E70"/>
            </a:solidFill>
            <a:ln w="12700">
              <a:solidFill>
                <a:srgbClr val="007E70"/>
              </a:solidFill>
              <a:prstDash val="solid"/>
            </a:ln>
          </p:spPr>
        </p:sp>
        <p:sp>
          <p:nvSpPr>
            <p:cNvPr id="36" name="Text 34"/>
            <p:cNvSpPr/>
            <p:nvPr/>
          </p:nvSpPr>
          <p:spPr>
            <a:xfrm>
              <a:off x="512064" y="3843390"/>
              <a:ext cx="1207008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Hana2.0 B" pitchFamily="34" charset="0"/>
                  <a:ea typeface="Hana2.0 B" pitchFamily="34" charset="-122"/>
                  <a:cs typeface="Hana2.0 B" pitchFamily="34" charset="-120"/>
                </a:rPr>
                <a:t>전략 검토</a:t>
              </a:r>
              <a:endParaRPr lang="en-US" sz="9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1947672" y="3794760"/>
              <a:ext cx="96012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263434"/>
                  </a:solidFill>
                  <a:latin typeface="Hana2.0 R" pitchFamily="34" charset="0"/>
                  <a:ea typeface="Hana2.0 R" pitchFamily="34" charset="-122"/>
                  <a:cs typeface="Hana2.0 R" pitchFamily="34" charset="-120"/>
                </a:rPr>
                <a:t>크로스보더 결제 시장과 경쟁 레일을 비교해 GIWA 투자·확대 필요성을 점검</a:t>
              </a:r>
              <a:endParaRPr lang="en-US" sz="1000" dirty="0"/>
            </a:p>
          </p:txBody>
        </p:sp>
      </p:grpSp>
      <p:grpSp>
        <p:nvGrpSpPr>
          <p:cNvPr id="58" name="그룹 57"/>
          <p:cNvGrpSpPr/>
          <p:nvPr/>
        </p:nvGrpSpPr>
        <p:grpSpPr>
          <a:xfrm>
            <a:off x="320040" y="4187952"/>
            <a:ext cx="11521440" cy="429768"/>
            <a:chOff x="320040" y="4187952"/>
            <a:chExt cx="11521440" cy="429768"/>
          </a:xfrm>
        </p:grpSpPr>
        <p:sp>
          <p:nvSpPr>
            <p:cNvPr id="38" name="Shape 36"/>
            <p:cNvSpPr/>
            <p:nvPr/>
          </p:nvSpPr>
          <p:spPr>
            <a:xfrm>
              <a:off x="320040" y="4187952"/>
              <a:ext cx="11521440" cy="429768"/>
            </a:xfrm>
            <a:prstGeom prst="roundRect">
              <a:avLst>
                <a:gd name="adj" fmla="val 25532"/>
              </a:avLst>
            </a:prstGeom>
            <a:solidFill>
              <a:srgbClr val="F4F7F6"/>
            </a:solidFill>
            <a:ln w="8890">
              <a:solidFill>
                <a:srgbClr val="D6DEDC"/>
              </a:solidFill>
              <a:prstDash val="solid"/>
            </a:ln>
          </p:spPr>
        </p:sp>
        <p:sp>
          <p:nvSpPr>
            <p:cNvPr id="39" name="Shape 37"/>
            <p:cNvSpPr/>
            <p:nvPr/>
          </p:nvSpPr>
          <p:spPr>
            <a:xfrm>
              <a:off x="466344" y="4279392"/>
              <a:ext cx="1298448" cy="246888"/>
            </a:xfrm>
            <a:prstGeom prst="roundRect">
              <a:avLst>
                <a:gd name="adj" fmla="val 33333"/>
              </a:avLst>
            </a:prstGeom>
            <a:solidFill>
              <a:srgbClr val="00655A"/>
            </a:solidFill>
            <a:ln w="12700">
              <a:solidFill>
                <a:srgbClr val="00655A"/>
              </a:solidFill>
              <a:prstDash val="solid"/>
            </a:ln>
          </p:spPr>
        </p:sp>
        <p:sp>
          <p:nvSpPr>
            <p:cNvPr id="40" name="Text 38"/>
            <p:cNvSpPr/>
            <p:nvPr/>
          </p:nvSpPr>
          <p:spPr>
            <a:xfrm>
              <a:off x="512064" y="4346310"/>
              <a:ext cx="1207008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Hana2.0 B" pitchFamily="34" charset="0"/>
                  <a:ea typeface="Hana2.0 B" pitchFamily="34" charset="-122"/>
                  <a:cs typeface="Hana2.0 B" pitchFamily="34" charset="-120"/>
                </a:rPr>
                <a:t>진행 관리</a:t>
              </a:r>
              <a:endParaRPr lang="en-US" sz="90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1947672" y="4297680"/>
              <a:ext cx="96012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263434"/>
                  </a:solidFill>
                  <a:latin typeface="Hana2.0 R" pitchFamily="34" charset="0"/>
                  <a:ea typeface="Hana2.0 R" pitchFamily="34" charset="-122"/>
                  <a:cs typeface="Hana2.0 R" pitchFamily="34" charset="-120"/>
                </a:rPr>
                <a:t>PoC → 생산 통합 → 상용화 → 경제성 단계별 진행 여부 추적</a:t>
              </a:r>
              <a:endParaRPr lang="en-US" sz="1000" dirty="0"/>
            </a:p>
          </p:txBody>
        </p:sp>
      </p:grpSp>
      <p:grpSp>
        <p:nvGrpSpPr>
          <p:cNvPr id="59" name="그룹 58"/>
          <p:cNvGrpSpPr/>
          <p:nvPr/>
        </p:nvGrpSpPr>
        <p:grpSpPr>
          <a:xfrm>
            <a:off x="320040" y="4690872"/>
            <a:ext cx="11521440" cy="429768"/>
            <a:chOff x="320040" y="4690872"/>
            <a:chExt cx="11521440" cy="429768"/>
          </a:xfrm>
        </p:grpSpPr>
        <p:sp>
          <p:nvSpPr>
            <p:cNvPr id="42" name="Shape 40"/>
            <p:cNvSpPr/>
            <p:nvPr/>
          </p:nvSpPr>
          <p:spPr>
            <a:xfrm>
              <a:off x="320040" y="4690872"/>
              <a:ext cx="11521440" cy="429768"/>
            </a:xfrm>
            <a:prstGeom prst="roundRect">
              <a:avLst>
                <a:gd name="adj" fmla="val 25532"/>
              </a:avLst>
            </a:prstGeom>
            <a:solidFill>
              <a:srgbClr val="FFFFFF"/>
            </a:solidFill>
            <a:ln w="8890">
              <a:solidFill>
                <a:srgbClr val="D6DEDC"/>
              </a:solidFill>
              <a:prstDash val="solid"/>
            </a:ln>
          </p:spPr>
        </p:sp>
        <p:sp>
          <p:nvSpPr>
            <p:cNvPr id="43" name="Shape 41"/>
            <p:cNvSpPr/>
            <p:nvPr/>
          </p:nvSpPr>
          <p:spPr>
            <a:xfrm>
              <a:off x="466344" y="4782312"/>
              <a:ext cx="1298448" cy="246888"/>
            </a:xfrm>
            <a:prstGeom prst="roundRect">
              <a:avLst>
                <a:gd name="adj" fmla="val 33333"/>
              </a:avLst>
            </a:prstGeom>
            <a:solidFill>
              <a:srgbClr val="007E70"/>
            </a:solidFill>
            <a:ln w="12700">
              <a:solidFill>
                <a:srgbClr val="007E70"/>
              </a:solidFill>
              <a:prstDash val="solid"/>
            </a:ln>
          </p:spPr>
        </p:sp>
        <p:sp>
          <p:nvSpPr>
            <p:cNvPr id="44" name="Text 42"/>
            <p:cNvSpPr/>
            <p:nvPr/>
          </p:nvSpPr>
          <p:spPr>
            <a:xfrm>
              <a:off x="512064" y="4849230"/>
              <a:ext cx="1207008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Hana2.0 B" pitchFamily="34" charset="0"/>
                  <a:ea typeface="Hana2.0 B" pitchFamily="34" charset="-122"/>
                  <a:cs typeface="Hana2.0 B" pitchFamily="34" charset="-120"/>
                </a:rPr>
                <a:t>KPI 관리</a:t>
              </a:r>
              <a:endParaRPr lang="en-US" sz="900" dirty="0"/>
            </a:p>
          </p:txBody>
        </p:sp>
        <p:sp>
          <p:nvSpPr>
            <p:cNvPr id="45" name="Text 43"/>
            <p:cNvSpPr/>
            <p:nvPr/>
          </p:nvSpPr>
          <p:spPr>
            <a:xfrm>
              <a:off x="1947672" y="4800600"/>
              <a:ext cx="96012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263434"/>
                  </a:solidFill>
                  <a:latin typeface="Hana2.0 R" pitchFamily="34" charset="0"/>
                  <a:ea typeface="Hana2.0 R" pitchFamily="34" charset="-122"/>
                  <a:cs typeface="Hana2.0 R" pitchFamily="34" charset="-120"/>
                </a:rPr>
                <a:t>속도·비용·실거래·수익성 등 핵심 증거가 확보될 때 판단 기준 업데이트</a:t>
              </a:r>
              <a:endParaRPr lang="en-US" sz="1000" dirty="0"/>
            </a:p>
          </p:txBody>
        </p:sp>
      </p:grpSp>
      <p:grpSp>
        <p:nvGrpSpPr>
          <p:cNvPr id="60" name="그룹 59"/>
          <p:cNvGrpSpPr/>
          <p:nvPr/>
        </p:nvGrpSpPr>
        <p:grpSpPr>
          <a:xfrm>
            <a:off x="320040" y="5193792"/>
            <a:ext cx="11521440" cy="429768"/>
            <a:chOff x="320040" y="5193792"/>
            <a:chExt cx="11521440" cy="429768"/>
          </a:xfrm>
        </p:grpSpPr>
        <p:sp>
          <p:nvSpPr>
            <p:cNvPr id="46" name="Shape 44"/>
            <p:cNvSpPr/>
            <p:nvPr/>
          </p:nvSpPr>
          <p:spPr>
            <a:xfrm>
              <a:off x="320040" y="5193792"/>
              <a:ext cx="11521440" cy="429768"/>
            </a:xfrm>
            <a:prstGeom prst="roundRect">
              <a:avLst>
                <a:gd name="adj" fmla="val 25532"/>
              </a:avLst>
            </a:prstGeom>
            <a:solidFill>
              <a:srgbClr val="F4F7F6"/>
            </a:solidFill>
            <a:ln w="8890">
              <a:solidFill>
                <a:srgbClr val="D6DEDC"/>
              </a:solidFill>
              <a:prstDash val="solid"/>
            </a:ln>
          </p:spPr>
        </p:sp>
        <p:sp>
          <p:nvSpPr>
            <p:cNvPr id="47" name="Shape 45"/>
            <p:cNvSpPr/>
            <p:nvPr/>
          </p:nvSpPr>
          <p:spPr>
            <a:xfrm>
              <a:off x="466344" y="5285232"/>
              <a:ext cx="1298448" cy="246888"/>
            </a:xfrm>
            <a:prstGeom prst="roundRect">
              <a:avLst>
                <a:gd name="adj" fmla="val 33333"/>
              </a:avLst>
            </a:prstGeom>
            <a:solidFill>
              <a:srgbClr val="00655A"/>
            </a:solidFill>
            <a:ln w="12700">
              <a:solidFill>
                <a:srgbClr val="00655A"/>
              </a:solidFill>
              <a:prstDash val="solid"/>
            </a:ln>
          </p:spPr>
        </p:sp>
        <p:sp>
          <p:nvSpPr>
            <p:cNvPr id="48" name="Text 46"/>
            <p:cNvSpPr/>
            <p:nvPr/>
          </p:nvSpPr>
          <p:spPr>
            <a:xfrm>
              <a:off x="512064" y="5352150"/>
              <a:ext cx="1207008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Hana2.0 B" pitchFamily="34" charset="0"/>
                  <a:ea typeface="Hana2.0 B" pitchFamily="34" charset="-122"/>
                  <a:cs typeface="Hana2.0 B" pitchFamily="34" charset="-120"/>
                </a:rPr>
                <a:t>경영진 커뮤니케이션</a:t>
              </a:r>
              <a:endParaRPr lang="en-US" sz="900" dirty="0"/>
            </a:p>
          </p:txBody>
        </p:sp>
        <p:sp>
          <p:nvSpPr>
            <p:cNvPr id="49" name="Text 47"/>
            <p:cNvSpPr/>
            <p:nvPr/>
          </p:nvSpPr>
          <p:spPr>
            <a:xfrm>
              <a:off x="1947672" y="5303520"/>
              <a:ext cx="96012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263434"/>
                  </a:solidFill>
                  <a:latin typeface="Hana2.0 R" pitchFamily="34" charset="0"/>
                  <a:ea typeface="Hana2.0 R" pitchFamily="34" charset="-122"/>
                  <a:cs typeface="Hana2.0 R" pitchFamily="34" charset="-120"/>
                </a:rPr>
                <a:t>기술 설명보다 기존 자산, 사업성, 리스크 중심으로 우선순위 논의</a:t>
              </a:r>
              <a:endParaRPr lang="en-US" sz="1000" dirty="0"/>
            </a:p>
          </p:txBody>
        </p:sp>
      </p:grpSp>
      <p:grpSp>
        <p:nvGrpSpPr>
          <p:cNvPr id="61" name="그룹 60"/>
          <p:cNvGrpSpPr/>
          <p:nvPr/>
        </p:nvGrpSpPr>
        <p:grpSpPr>
          <a:xfrm>
            <a:off x="320040" y="5925312"/>
            <a:ext cx="11521440" cy="860000"/>
            <a:chOff x="320040" y="5925312"/>
            <a:chExt cx="11521440" cy="860000"/>
          </a:xfrm>
        </p:grpSpPr>
        <p:sp>
          <p:nvSpPr>
            <p:cNvPr id="50" name="Shape 48"/>
            <p:cNvSpPr/>
            <p:nvPr/>
          </p:nvSpPr>
          <p:spPr>
            <a:xfrm>
              <a:off x="320040" y="5925312"/>
              <a:ext cx="11521440" cy="860000"/>
            </a:xfrm>
            <a:prstGeom prst="roundRect">
              <a:avLst>
                <a:gd name="adj" fmla="val 25000"/>
              </a:avLst>
            </a:prstGeom>
            <a:solidFill>
              <a:srgbClr val="E6F4F1"/>
            </a:solidFill>
            <a:ln w="8890">
              <a:solidFill>
                <a:srgbClr val="CFE5E0"/>
              </a:solidFill>
              <a:prstDash val="solid"/>
            </a:ln>
          </p:spPr>
        </p:sp>
        <p:sp>
          <p:nvSpPr>
            <p:cNvPr id="51" name="Text 49"/>
            <p:cNvSpPr/>
            <p:nvPr/>
          </p:nvSpPr>
          <p:spPr>
            <a:xfrm>
              <a:off x="420040" y="5975000"/>
              <a:ext cx="2500000" cy="155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>
                <a:buNone/>
              </a:pPr>
              <a:r>
                <a:rPr lang="en-US" sz="760" b="1" dirty="0">
                  <a:solidFill>
                    <a:srgbClr val="00655A"/>
                  </a:solidFill>
                  <a:latin typeface="Hana2.0 B" pitchFamily="34" charset="0"/>
                  <a:ea typeface="Hana2.0 B" pitchFamily="34" charset="-122"/>
                  <a:cs typeface="Hana2.0 B" pitchFamily="34" charset="-120"/>
                </a:rPr>
                <a:t>주요 레퍼런스</a:t>
              </a:r>
              <a:endParaRPr lang="en-US" sz="760" dirty="0"/>
            </a:p>
          </p:txBody>
        </p:sp>
        <p:sp>
          <p:nvSpPr>
            <p:cNvPr id="960" name="Text 960"/>
            <p:cNvSpPr/>
            <p:nvPr/>
          </p:nvSpPr>
          <p:spPr>
            <a:xfrm>
              <a:off x="420040" y="6160000"/>
              <a:ext cx="5560720" cy="13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>
                <a:buNone/>
              </a:pPr>
              <a:r>
                <a:rPr lang="en-US" sz="600" dirty="0">
                  <a:solidFill>
                    <a:srgbClr val="263434"/>
                  </a:solidFill>
                  <a:latin typeface="Hana2.0 R" pitchFamily="34" charset="0"/>
                  <a:ea typeface="Hana2.0 R" pitchFamily="34" charset="-122"/>
                  <a:cs typeface="Hana2.0 R" pitchFamily="34" charset="-120"/>
                </a:rPr>
                <a:t>World Bank. Remittance Prices Worldwide (2011–2025).</a:t>
              </a:r>
              <a:endParaRPr lang="en-US" sz="600" dirty="0"/>
            </a:p>
          </p:txBody>
        </p:sp>
        <p:sp>
          <p:nvSpPr>
            <p:cNvPr id="961" name="Text 961"/>
            <p:cNvSpPr/>
            <p:nvPr/>
          </p:nvSpPr>
          <p:spPr>
            <a:xfrm>
              <a:off x="420040" y="6270000"/>
              <a:ext cx="5560720" cy="13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>
                <a:buNone/>
              </a:pPr>
              <a:r>
                <a:rPr lang="en-US" sz="600" dirty="0">
                  <a:solidFill>
                    <a:srgbClr val="263434"/>
                  </a:solidFill>
                  <a:latin typeface="Hana2.0 R" pitchFamily="34" charset="0"/>
                  <a:ea typeface="Hana2.0 R" pitchFamily="34" charset="-122"/>
                  <a:cs typeface="Hana2.0 R" pitchFamily="34" charset="-120"/>
                </a:rPr>
                <a:t>Financial Stability Board. Cross-Border Payments KPI Report (2024).</a:t>
              </a:r>
              <a:endParaRPr lang="en-US" sz="600" dirty="0"/>
            </a:p>
          </p:txBody>
        </p:sp>
        <p:sp>
          <p:nvSpPr>
            <p:cNvPr id="962" name="Text 962"/>
            <p:cNvSpPr/>
            <p:nvPr/>
          </p:nvSpPr>
          <p:spPr>
            <a:xfrm>
              <a:off x="420040" y="6380000"/>
              <a:ext cx="5560720" cy="13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>
                <a:buNone/>
              </a:pPr>
              <a:r>
                <a:rPr lang="en-US" sz="600" dirty="0">
                  <a:solidFill>
                    <a:srgbClr val="263434"/>
                  </a:solidFill>
                  <a:latin typeface="Hana2.0 R" pitchFamily="34" charset="0"/>
                  <a:ea typeface="Hana2.0 R" pitchFamily="34" charset="-122"/>
                  <a:cs typeface="Hana2.0 R" pitchFamily="34" charset="-120"/>
                </a:rPr>
                <a:t>IMF. What Explains Remittance Fees? (WP/22/63, 2022).</a:t>
              </a:r>
              <a:endParaRPr lang="en-US" sz="600" dirty="0"/>
            </a:p>
          </p:txBody>
        </p:sp>
        <p:sp>
          <p:nvSpPr>
            <p:cNvPr id="963" name="Text 963"/>
            <p:cNvSpPr/>
            <p:nvPr/>
          </p:nvSpPr>
          <p:spPr>
            <a:xfrm>
              <a:off x="420040" y="6490000"/>
              <a:ext cx="5560720" cy="13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>
                <a:buNone/>
              </a:pPr>
              <a:r>
                <a:rPr lang="en-US" sz="600" dirty="0">
                  <a:solidFill>
                    <a:srgbClr val="263434"/>
                  </a:solidFill>
                  <a:latin typeface="Hana2.0 R" pitchFamily="34" charset="0"/>
                  <a:ea typeface="Hana2.0 R" pitchFamily="34" charset="-122"/>
                  <a:cs typeface="Hana2.0 R" pitchFamily="34" charset="-120"/>
                </a:rPr>
                <a:t>Du·Huang·Scharfstein(HBS). Competing Rails for Cross-Border Payments (2026).</a:t>
              </a:r>
              <a:endParaRPr lang="en-US" sz="600" dirty="0"/>
            </a:p>
          </p:txBody>
        </p:sp>
        <p:sp>
          <p:nvSpPr>
            <p:cNvPr id="964" name="Text 964"/>
            <p:cNvSpPr/>
            <p:nvPr/>
          </p:nvSpPr>
          <p:spPr>
            <a:xfrm>
              <a:off x="420040" y="6600000"/>
              <a:ext cx="5560720" cy="13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>
                <a:buNone/>
              </a:pPr>
              <a:r>
                <a:rPr lang="en-US" sz="600" dirty="0">
                  <a:solidFill>
                    <a:srgbClr val="263434"/>
                  </a:solidFill>
                  <a:latin typeface="Hana2.0 R" pitchFamily="34" charset="0"/>
                  <a:ea typeface="Hana2.0 R" pitchFamily="34" charset="-122"/>
                  <a:cs typeface="Hana2.0 R" pitchFamily="34" charset="-120"/>
                </a:rPr>
                <a:t>BIS Innovation Hub. Project mBridge·Agorá·Nexus (2022–2026).</a:t>
              </a:r>
              <a:endParaRPr lang="en-US" sz="600" dirty="0"/>
            </a:p>
          </p:txBody>
        </p:sp>
        <p:sp>
          <p:nvSpPr>
            <p:cNvPr id="965" name="Text 965"/>
            <p:cNvSpPr/>
            <p:nvPr/>
          </p:nvSpPr>
          <p:spPr>
            <a:xfrm>
              <a:off x="6180760" y="6160000"/>
              <a:ext cx="5560720" cy="13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>
                <a:buNone/>
              </a:pPr>
              <a:r>
                <a:rPr lang="en-US" sz="600" dirty="0">
                  <a:solidFill>
                    <a:srgbClr val="263434"/>
                  </a:solidFill>
                  <a:latin typeface="Hana2.0 R" pitchFamily="34" charset="0"/>
                  <a:ea typeface="Hana2.0 R" pitchFamily="34" charset="-122"/>
                  <a:cs typeface="Hana2.0 R" pitchFamily="34" charset="-120"/>
                </a:rPr>
                <a:t>South African Reserve Bank. Remittance Corridor Cost Patterns: Sub-Saharan Africa (2025).</a:t>
              </a:r>
              <a:endParaRPr lang="en-US" sz="600" dirty="0"/>
            </a:p>
          </p:txBody>
        </p:sp>
        <p:sp>
          <p:nvSpPr>
            <p:cNvPr id="966" name="Text 966"/>
            <p:cNvSpPr/>
            <p:nvPr/>
          </p:nvSpPr>
          <p:spPr>
            <a:xfrm>
              <a:off x="6180760" y="6270000"/>
              <a:ext cx="5560720" cy="13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>
                <a:buNone/>
              </a:pPr>
              <a:r>
                <a:rPr lang="en-US" sz="600" dirty="0">
                  <a:solidFill>
                    <a:srgbClr val="263434"/>
                  </a:solidFill>
                  <a:latin typeface="Hana2.0 R" pitchFamily="34" charset="0"/>
                  <a:ea typeface="Hana2.0 R" pitchFamily="34" charset="-122"/>
                  <a:cs typeface="Hana2.0 R" pitchFamily="34" charset="-120"/>
                </a:rPr>
                <a:t>The Payments Association. Cross-Border Payments in 2026: Friction and Reform (2026).</a:t>
              </a:r>
              <a:endParaRPr lang="en-US" sz="600" dirty="0"/>
            </a:p>
          </p:txBody>
        </p:sp>
        <p:sp>
          <p:nvSpPr>
            <p:cNvPr id="967" name="Text 967"/>
            <p:cNvSpPr/>
            <p:nvPr/>
          </p:nvSpPr>
          <p:spPr>
            <a:xfrm>
              <a:off x="6180760" y="6380000"/>
              <a:ext cx="5560720" cy="13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>
                <a:buNone/>
              </a:pPr>
              <a:r>
                <a:rPr lang="en-US" sz="600" dirty="0">
                  <a:solidFill>
                    <a:srgbClr val="263434"/>
                  </a:solidFill>
                  <a:latin typeface="Hana2.0 R" pitchFamily="34" charset="0"/>
                  <a:ea typeface="Hana2.0 R" pitchFamily="34" charset="-122"/>
                  <a:cs typeface="Hana2.0 R" pitchFamily="34" charset="-120"/>
                </a:rPr>
                <a:t>Banque de France. International Monetary Landscape Disruptions (2026).</a:t>
              </a:r>
              <a:endParaRPr lang="en-US" sz="600" dirty="0"/>
            </a:p>
          </p:txBody>
        </p:sp>
        <p:sp>
          <p:nvSpPr>
            <p:cNvPr id="968" name="Text 968"/>
            <p:cNvSpPr/>
            <p:nvPr/>
          </p:nvSpPr>
          <p:spPr>
            <a:xfrm>
              <a:off x="6180760" y="6490000"/>
              <a:ext cx="5560720" cy="13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>
                <a:buNone/>
              </a:pPr>
              <a:r>
                <a:rPr lang="en-US" sz="600" dirty="0">
                  <a:solidFill>
                    <a:srgbClr val="263434"/>
                  </a:solidFill>
                  <a:latin typeface="Hana2.0 R" pitchFamily="34" charset="0"/>
                  <a:ea typeface="Hana2.0 R" pitchFamily="34" charset="-122"/>
                  <a:cs typeface="Hana2.0 R" pitchFamily="34" charset="-120"/>
                </a:rPr>
                <a:t>하나금융그룹·하나은행. IR·DART 공시자료 (2021–2025).</a:t>
              </a:r>
              <a:endParaRPr lang="en-US" sz="600" dirty="0"/>
            </a:p>
          </p:txBody>
        </p:sp>
        <p:sp>
          <p:nvSpPr>
            <p:cNvPr id="969" name="Text 969"/>
            <p:cNvSpPr/>
            <p:nvPr/>
          </p:nvSpPr>
          <p:spPr>
            <a:xfrm>
              <a:off x="6180760" y="6600000"/>
              <a:ext cx="5560720" cy="13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>
                <a:buNone/>
              </a:pPr>
              <a:r>
                <a:rPr lang="en-US" sz="600" dirty="0">
                  <a:solidFill>
                    <a:srgbClr val="263434"/>
                  </a:solidFill>
                  <a:latin typeface="Hana2.0 R" pitchFamily="34" charset="0"/>
                  <a:ea typeface="Hana2.0 R" pitchFamily="34" charset="-122"/>
                  <a:cs typeface="Hana2.0 R" pitchFamily="34" charset="-120"/>
                </a:rPr>
                <a:t>언론보도·GLN 자료. GIWA/GLN 상용화 관련 기사 (2024–2026).</a:t>
              </a:r>
              <a:endParaRPr lang="en-US" sz="600" dirty="0"/>
            </a:p>
          </p:txBody>
        </p:sp>
      </p:grpSp>
      <p:pic>
        <p:nvPicPr>
          <p:cNvPr id="999" name="Hana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8655" y="298640"/>
            <a:ext cx="573000" cy="5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ana2.0 H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ana2.0 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694</Words>
  <Application>Microsoft Office PowerPoint</Application>
  <PresentationFormat>와이드스크린</PresentationFormat>
  <Paragraphs>109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Hana2.0 B</vt:lpstr>
      <vt:lpstr>Hana2.0 H</vt:lpstr>
      <vt:lpstr>Hana2.0 R</vt:lpstr>
      <vt:lpstr>맑은 고딕</vt:lpstr>
      <vt:lpstr>Arial</vt:lpstr>
      <vt:lpstr>Office Theme</vt:lpstr>
      <vt:lpstr>PowerPoint 프레젠테이션</vt:lpstr>
      <vt:lpstr>PowerPoint 프레젠테이션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Hana GIWA Dashboard Overview</dc:title>
  <dc:subject>Hana GIWA Dashboard Overview</dc:subject>
  <dc:creator/>
  <cp:lastModifiedBy/>
  <cp:revision>4</cp:revision>
  <dcterms:created xsi:type="dcterms:W3CDTF">2026-08-26T12:19:41Z</dcterms:created>
  <dcterms:modified xsi:type="dcterms:W3CDTF">2026-08-26T13:25:59Z</dcterms:modified>
</cp:coreProperties>
</file>